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75" r:id="rId21"/>
    <p:sldId id="276" r:id="rId22"/>
    <p:sldId id="278" r:id="rId23"/>
    <p:sldId id="279" r:id="rId24"/>
    <p:sldId id="280" r:id="rId25"/>
    <p:sldId id="281" r:id="rId26"/>
    <p:sldId id="288" r:id="rId27"/>
    <p:sldId id="289" r:id="rId28"/>
    <p:sldId id="290" r:id="rId29"/>
    <p:sldId id="291" r:id="rId30"/>
    <p:sldId id="292" r:id="rId31"/>
    <p:sldId id="293" r:id="rId32"/>
    <p:sldId id="282" r:id="rId33"/>
    <p:sldId id="283" r:id="rId34"/>
    <p:sldId id="285" r:id="rId35"/>
    <p:sldId id="286" r:id="rId36"/>
    <p:sldId id="287" r:id="rId37"/>
    <p:sldId id="295" r:id="rId38"/>
    <p:sldId id="294" r:id="rId39"/>
    <p:sldId id="298" r:id="rId40"/>
    <p:sldId id="296" r:id="rId41"/>
    <p:sldId id="297"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2553E-51C4-493B-9553-CF33D9BE0D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216703-37B4-4157-B3C5-7AFD9CF7B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78CDA3-8B90-401D-9C7D-EF4225709894}"/>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5" name="Footer Placeholder 4">
            <a:extLst>
              <a:ext uri="{FF2B5EF4-FFF2-40B4-BE49-F238E27FC236}">
                <a16:creationId xmlns:a16="http://schemas.microsoft.com/office/drawing/2014/main" id="{F1E32F40-91FC-4A35-AC5E-0D079F30A6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2EB044-C0E5-411F-9F79-46019AC9A8EF}"/>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3760289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6CA0-E590-478A-8019-A1A30B6A7B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80F3A-1798-4D23-B22D-E56C044605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C29314-61B0-457B-8FD0-A6BADF77013A}"/>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5" name="Footer Placeholder 4">
            <a:extLst>
              <a:ext uri="{FF2B5EF4-FFF2-40B4-BE49-F238E27FC236}">
                <a16:creationId xmlns:a16="http://schemas.microsoft.com/office/drawing/2014/main" id="{EF1D85CE-871F-42A2-90A5-9C8F670453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906D60-80CD-482F-8A93-8CA0F0FA1A9A}"/>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2135876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438E-A059-4CEC-AA9B-DCCECF256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6D9C2B-A4EE-4700-817D-6621342918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603F7F-80C2-4020-92BD-B76E5219A81F}"/>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5" name="Footer Placeholder 4">
            <a:extLst>
              <a:ext uri="{FF2B5EF4-FFF2-40B4-BE49-F238E27FC236}">
                <a16:creationId xmlns:a16="http://schemas.microsoft.com/office/drawing/2014/main" id="{1A86D94F-5F4C-4C56-A91E-526BCC692E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912536-722A-4051-9244-90CA210E7AE7}"/>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320970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C1C3E-234D-410C-9751-0ED9BE074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2DD127-17C3-4176-9325-6E90985820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87C0A9D-F3F0-4EEC-A428-50A3E24EE9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B52D7-CA0B-488D-9C1C-3E26DAB005C2}"/>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6" name="Footer Placeholder 5">
            <a:extLst>
              <a:ext uri="{FF2B5EF4-FFF2-40B4-BE49-F238E27FC236}">
                <a16:creationId xmlns:a16="http://schemas.microsoft.com/office/drawing/2014/main" id="{1FD138B8-06CB-4B75-9ADE-431DF65A89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FC9225-985D-44ED-B1AA-A20C9F27C98C}"/>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1875631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09120-028C-4B36-AA28-F2DA94506F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35F456-2E9C-4CCE-ABBE-9528A1B118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F4E105-CDDD-40EA-B456-81778E261E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2A51817-DBB7-47CB-A9DB-33C9CBCDC0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BA4B66-04D4-4889-B033-F3869923D4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0A06F9-8E71-46FC-A38E-0E1E6E12DC6D}"/>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8" name="Footer Placeholder 7">
            <a:extLst>
              <a:ext uri="{FF2B5EF4-FFF2-40B4-BE49-F238E27FC236}">
                <a16:creationId xmlns:a16="http://schemas.microsoft.com/office/drawing/2014/main" id="{5439F0BE-B687-4FAF-8715-CCFC31DD40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72B23A5-F355-4254-A734-209D6891D56D}"/>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49460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486D-AA29-432B-B08A-9CB15113EF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70077D-D711-4CC6-9EF4-7896543E9E3A}"/>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4" name="Footer Placeholder 3">
            <a:extLst>
              <a:ext uri="{FF2B5EF4-FFF2-40B4-BE49-F238E27FC236}">
                <a16:creationId xmlns:a16="http://schemas.microsoft.com/office/drawing/2014/main" id="{64877796-2BA0-4341-8DFC-63F02D8FA9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34B973-AFE2-498C-B486-BD6B1294F45E}"/>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363773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3FFA2D-124A-4359-AAF6-914B8BD5F3D3}"/>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3" name="Footer Placeholder 2">
            <a:extLst>
              <a:ext uri="{FF2B5EF4-FFF2-40B4-BE49-F238E27FC236}">
                <a16:creationId xmlns:a16="http://schemas.microsoft.com/office/drawing/2014/main" id="{89C77D37-E29C-4C14-87E6-21E2F3773F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7C8E6F-916B-4BE9-B0C4-FBED69FF2EA2}"/>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1223598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DA645-DDDD-4D7C-BCC8-4F0928EA0F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4DF476-8F66-47AA-9AD1-99746E34F3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D15191-413A-414D-BEE7-FC0F43AF2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A9455-15D6-4427-9E44-0A0F7D7FEA86}"/>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6" name="Footer Placeholder 5">
            <a:extLst>
              <a:ext uri="{FF2B5EF4-FFF2-40B4-BE49-F238E27FC236}">
                <a16:creationId xmlns:a16="http://schemas.microsoft.com/office/drawing/2014/main" id="{1A02CE45-1B0A-457D-BD71-CC4174817F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C2C127-2650-448E-BECB-C4A6FB464B5B}"/>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742390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84531-9895-4329-ABA1-28B55FCC6B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00827C-0FE3-4862-A7C5-3260B5A2BD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4A10C6-E408-480B-992B-A853072C0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2C83F-24B8-4DAA-8FD3-5F7AF39C76C0}"/>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6" name="Footer Placeholder 5">
            <a:extLst>
              <a:ext uri="{FF2B5EF4-FFF2-40B4-BE49-F238E27FC236}">
                <a16:creationId xmlns:a16="http://schemas.microsoft.com/office/drawing/2014/main" id="{C4806976-3288-4AAF-9102-1FF4C76501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48825D-7229-4894-A483-0065979A6E9A}"/>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3945490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BEC91-2751-41D7-81EF-4EF80E244D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E438CE-92DB-49CE-8CE7-51896608D9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B52B8-D7A9-45E7-A3D2-FBB5964675C2}"/>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5" name="Footer Placeholder 4">
            <a:extLst>
              <a:ext uri="{FF2B5EF4-FFF2-40B4-BE49-F238E27FC236}">
                <a16:creationId xmlns:a16="http://schemas.microsoft.com/office/drawing/2014/main" id="{DB9B9E6B-2C4B-4C6F-856C-9969D21473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70D666-5FE5-48E4-AADE-BFD6227AAD88}"/>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391421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F63C7D-6B6A-4CE7-B6D9-5A28EDAD56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2C8F33-7DE1-4513-8859-A6686C9C17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78C789-A4F8-4918-BC8C-DC2F4751C9D8}"/>
              </a:ext>
            </a:extLst>
          </p:cNvPr>
          <p:cNvSpPr>
            <a:spLocks noGrp="1"/>
          </p:cNvSpPr>
          <p:nvPr>
            <p:ph type="dt" sz="half" idx="10"/>
          </p:nvPr>
        </p:nvSpPr>
        <p:spPr/>
        <p:txBody>
          <a:bodyPr/>
          <a:lstStyle/>
          <a:p>
            <a:fld id="{3CD94947-5DBF-4675-8CE0-10BA27CF81CE}" type="datetimeFigureOut">
              <a:rPr lang="en-IN" smtClean="0"/>
              <a:t>28-03-2025</a:t>
            </a:fld>
            <a:endParaRPr lang="en-IN"/>
          </a:p>
        </p:txBody>
      </p:sp>
      <p:sp>
        <p:nvSpPr>
          <p:cNvPr id="5" name="Footer Placeholder 4">
            <a:extLst>
              <a:ext uri="{FF2B5EF4-FFF2-40B4-BE49-F238E27FC236}">
                <a16:creationId xmlns:a16="http://schemas.microsoft.com/office/drawing/2014/main" id="{0238B07C-71AF-4D6A-B1B0-67D0A8E9A6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75D9B2-037D-4EA8-B637-9A1BAA3D0F67}"/>
              </a:ext>
            </a:extLst>
          </p:cNvPr>
          <p:cNvSpPr>
            <a:spLocks noGrp="1"/>
          </p:cNvSpPr>
          <p:nvPr>
            <p:ph type="sldNum" sz="quarter" idx="12"/>
          </p:nvPr>
        </p:nvSpPr>
        <p:spPr/>
        <p:txBody>
          <a:bodyPr/>
          <a:lstStyle/>
          <a:p>
            <a:fld id="{6880443F-589E-4E74-AAFA-3266E84AA2BA}" type="slidenum">
              <a:rPr lang="en-IN" smtClean="0"/>
              <a:t>‹#›</a:t>
            </a:fld>
            <a:endParaRPr lang="en-IN"/>
          </a:p>
        </p:txBody>
      </p:sp>
    </p:spTree>
    <p:extLst>
      <p:ext uri="{BB962C8B-B14F-4D97-AF65-F5344CB8AC3E}">
        <p14:creationId xmlns:p14="http://schemas.microsoft.com/office/powerpoint/2010/main" val="2865118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30DD62-A858-469E-B4F2-450E1A11DF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1ED718-EAB4-4A8F-935C-B943EF7CED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802838-ACE7-42C5-BF7F-3DE5B4F832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D94947-5DBF-4675-8CE0-10BA27CF81CE}" type="datetimeFigureOut">
              <a:rPr lang="en-IN" smtClean="0"/>
              <a:t>28-03-2025</a:t>
            </a:fld>
            <a:endParaRPr lang="en-IN"/>
          </a:p>
        </p:txBody>
      </p:sp>
      <p:sp>
        <p:nvSpPr>
          <p:cNvPr id="5" name="Footer Placeholder 4">
            <a:extLst>
              <a:ext uri="{FF2B5EF4-FFF2-40B4-BE49-F238E27FC236}">
                <a16:creationId xmlns:a16="http://schemas.microsoft.com/office/drawing/2014/main" id="{8694A5AE-2FF2-4F2B-924D-9D0CB1B13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099A5B-DBE8-4A90-BA9E-654D562343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0443F-589E-4E74-AAFA-3266E84AA2BA}" type="slidenum">
              <a:rPr lang="en-IN" smtClean="0"/>
              <a:t>‹#›</a:t>
            </a:fld>
            <a:endParaRPr lang="en-IN"/>
          </a:p>
        </p:txBody>
      </p:sp>
    </p:spTree>
    <p:extLst>
      <p:ext uri="{BB962C8B-B14F-4D97-AF65-F5344CB8AC3E}">
        <p14:creationId xmlns:p14="http://schemas.microsoft.com/office/powerpoint/2010/main" val="53136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19EEFA85-0C4E-4447-903A-ADC0786D5BC9}"/>
              </a:ext>
            </a:extLst>
          </p:cNvPr>
          <p:cNvSpPr>
            <a:spLocks noGrp="1"/>
          </p:cNvSpPr>
          <p:nvPr>
            <p:ph type="subTitle" idx="1"/>
          </p:nvPr>
        </p:nvSpPr>
        <p:spPr>
          <a:xfrm>
            <a:off x="4439633" y="4518923"/>
            <a:ext cx="3312734" cy="1141851"/>
          </a:xfrm>
          <a:noFill/>
        </p:spPr>
        <p:txBody>
          <a:bodyPr>
            <a:normAutofit/>
          </a:bodyPr>
          <a:lstStyle/>
          <a:p>
            <a:r>
              <a:rPr lang="en-IN" sz="2000" dirty="0">
                <a:solidFill>
                  <a:srgbClr val="080808"/>
                </a:solidFill>
              </a:rPr>
              <a:t>Instructor: Prof. Vijayetha</a:t>
            </a:r>
          </a:p>
        </p:txBody>
      </p:sp>
      <p:sp>
        <p:nvSpPr>
          <p:cNvPr id="2" name="Title 1">
            <a:extLst>
              <a:ext uri="{FF2B5EF4-FFF2-40B4-BE49-F238E27FC236}">
                <a16:creationId xmlns:a16="http://schemas.microsoft.com/office/drawing/2014/main" id="{C54038AA-E475-45B9-ACEC-69FD4CC8E0E4}"/>
              </a:ext>
            </a:extLst>
          </p:cNvPr>
          <p:cNvSpPr>
            <a:spLocks noGrp="1"/>
          </p:cNvSpPr>
          <p:nvPr>
            <p:ph type="ctrTitle"/>
          </p:nvPr>
        </p:nvSpPr>
        <p:spPr>
          <a:xfrm>
            <a:off x="3204642" y="2353641"/>
            <a:ext cx="5782716" cy="2150719"/>
          </a:xfrm>
          <a:noFill/>
        </p:spPr>
        <p:txBody>
          <a:bodyPr anchor="ctr">
            <a:normAutofit/>
          </a:bodyPr>
          <a:lstStyle/>
          <a:p>
            <a:endParaRPr lang="en-IN" sz="3600" dirty="0">
              <a:solidFill>
                <a:srgbClr val="080808"/>
              </a:solidFill>
            </a:endParaRPr>
          </a:p>
          <a:p>
            <a:r>
              <a:rPr lang="en-IN" dirty="0"/>
              <a:t>Node. JS</a:t>
            </a: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86721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36239E-CF13-41D9-9F06-B53E47F707C6}"/>
              </a:ext>
            </a:extLst>
          </p:cNvPr>
          <p:cNvSpPr>
            <a:spLocks noGrp="1"/>
          </p:cNvSpPr>
          <p:nvPr>
            <p:ph idx="1"/>
          </p:nvPr>
        </p:nvSpPr>
        <p:spPr>
          <a:xfrm>
            <a:off x="838200" y="323850"/>
            <a:ext cx="10515600" cy="5853113"/>
          </a:xfrm>
        </p:spPr>
        <p:txBody>
          <a:bodyPr/>
          <a:lstStyle/>
          <a:p>
            <a:endParaRPr lang="en-IN" dirty="0"/>
          </a:p>
          <a:p>
            <a:r>
              <a:rPr lang="en-IN" dirty="0"/>
              <a:t>Node.js is an open-source server side runtime environment built on Chrome's V8 JavaScript engine. </a:t>
            </a:r>
          </a:p>
          <a:p>
            <a:r>
              <a:rPr lang="en-IN" dirty="0"/>
              <a:t>It provides an event driven, non-blocking (asynchronous) I/O and cross-platform runtime environment for building highly scalable server-side application using JavaScript.</a:t>
            </a:r>
          </a:p>
          <a:p>
            <a:r>
              <a:rPr lang="en-US" dirty="0"/>
              <a:t>Node.js can be used to build different types of applications such as command line application, web application, real-time chat application, REST API server etc. </a:t>
            </a:r>
          </a:p>
          <a:p>
            <a:r>
              <a:rPr lang="en-US" dirty="0"/>
              <a:t>However, it is mainly used to build network programs like web servers, similar to PHP, Java, or ASP.NET.</a:t>
            </a:r>
          </a:p>
          <a:p>
            <a:endParaRPr lang="en-IN" dirty="0"/>
          </a:p>
        </p:txBody>
      </p:sp>
    </p:spTree>
    <p:extLst>
      <p:ext uri="{BB962C8B-B14F-4D97-AF65-F5344CB8AC3E}">
        <p14:creationId xmlns:p14="http://schemas.microsoft.com/office/powerpoint/2010/main" val="2385503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5CEA2-D0EE-4474-8107-B7ED16B55C9C}"/>
              </a:ext>
            </a:extLst>
          </p:cNvPr>
          <p:cNvSpPr>
            <a:spLocks noGrp="1"/>
          </p:cNvSpPr>
          <p:nvPr>
            <p:ph type="title"/>
          </p:nvPr>
        </p:nvSpPr>
        <p:spPr/>
        <p:txBody>
          <a:bodyPr/>
          <a:lstStyle/>
          <a:p>
            <a:r>
              <a:rPr lang="en-US" dirty="0"/>
              <a:t>Advantages </a:t>
            </a:r>
            <a:endParaRPr lang="en-IN" dirty="0"/>
          </a:p>
        </p:txBody>
      </p:sp>
      <p:sp>
        <p:nvSpPr>
          <p:cNvPr id="3" name="Content Placeholder 2">
            <a:extLst>
              <a:ext uri="{FF2B5EF4-FFF2-40B4-BE49-F238E27FC236}">
                <a16:creationId xmlns:a16="http://schemas.microsoft.com/office/drawing/2014/main" id="{878F10B4-A12B-45A0-94A5-35DDF90C331E}"/>
              </a:ext>
            </a:extLst>
          </p:cNvPr>
          <p:cNvSpPr>
            <a:spLocks noGrp="1"/>
          </p:cNvSpPr>
          <p:nvPr>
            <p:ph idx="1"/>
          </p:nvPr>
        </p:nvSpPr>
        <p:spPr/>
        <p:txBody>
          <a:bodyPr/>
          <a:lstStyle/>
          <a:p>
            <a:r>
              <a:rPr lang="en-US" dirty="0"/>
              <a:t>Node.js is an open-source framework under MIT license. Uses JavaScript to build entire server side application.</a:t>
            </a:r>
          </a:p>
          <a:p>
            <a:r>
              <a:rPr lang="en-US" dirty="0"/>
              <a:t>Lightweight framework that includes bare minimum modules. Other modules can be included as per the need of an application.</a:t>
            </a:r>
          </a:p>
          <a:p>
            <a:r>
              <a:rPr lang="en-US" dirty="0"/>
              <a:t>Asynchronous by default. So it performs faster than other frameworks.</a:t>
            </a:r>
          </a:p>
          <a:p>
            <a:r>
              <a:rPr lang="en-US" dirty="0"/>
              <a:t>Cross-platform framework that runs on Windows, MAC or Linux</a:t>
            </a:r>
            <a:endParaRPr lang="en-IN" dirty="0"/>
          </a:p>
        </p:txBody>
      </p:sp>
    </p:spTree>
    <p:extLst>
      <p:ext uri="{BB962C8B-B14F-4D97-AF65-F5344CB8AC3E}">
        <p14:creationId xmlns:p14="http://schemas.microsoft.com/office/powerpoint/2010/main" val="2954571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445E2-4E55-4373-BFAD-A1BCE074D3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3EABB87-9020-418C-8A28-54B35A22D8C2}"/>
              </a:ext>
            </a:extLst>
          </p:cNvPr>
          <p:cNvSpPr>
            <a:spLocks noGrp="1"/>
          </p:cNvSpPr>
          <p:nvPr>
            <p:ph idx="1"/>
          </p:nvPr>
        </p:nvSpPr>
        <p:spPr/>
        <p:txBody>
          <a:bodyPr/>
          <a:lstStyle/>
          <a:p>
            <a:endParaRPr lang="en-IN"/>
          </a:p>
        </p:txBody>
      </p:sp>
      <p:pic>
        <p:nvPicPr>
          <p:cNvPr id="8194" name="Picture 2" descr="Advantages &amp; Disadvantages of Node.js : Why to Use Node.js?">
            <a:extLst>
              <a:ext uri="{FF2B5EF4-FFF2-40B4-BE49-F238E27FC236}">
                <a16:creationId xmlns:a16="http://schemas.microsoft.com/office/drawing/2014/main" id="{05567135-E1F8-4F0A-92FD-91E320AA6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28638"/>
            <a:ext cx="12192000" cy="5799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8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7C389-21DE-48E7-BBE6-BD25C4302500}"/>
              </a:ext>
            </a:extLst>
          </p:cNvPr>
          <p:cNvSpPr>
            <a:spLocks noGrp="1"/>
          </p:cNvSpPr>
          <p:nvPr>
            <p:ph type="title"/>
          </p:nvPr>
        </p:nvSpPr>
        <p:spPr/>
        <p:txBody>
          <a:bodyPr>
            <a:normAutofit fontScale="90000"/>
          </a:bodyPr>
          <a:lstStyle/>
          <a:p>
            <a:r>
              <a:rPr lang="en-IN" b="0" i="0" dirty="0">
                <a:solidFill>
                  <a:srgbClr val="181717"/>
                </a:solidFill>
                <a:effectLst/>
                <a:latin typeface="Segoe UI" panose="020B0502040204020203" pitchFamily="34" charset="0"/>
              </a:rPr>
              <a:t>Traditional Web Server Model</a:t>
            </a:r>
            <a:br>
              <a:rPr lang="en-IN" b="0" i="0" dirty="0">
                <a:solidFill>
                  <a:srgbClr val="181717"/>
                </a:solidFill>
                <a:effectLst/>
                <a:latin typeface="Segoe UI" panose="020B0502040204020203" pitchFamily="34" charset="0"/>
              </a:rPr>
            </a:br>
            <a:br>
              <a:rPr lang="en-IN" dirty="0"/>
            </a:br>
            <a:endParaRPr lang="en-IN" dirty="0"/>
          </a:p>
        </p:txBody>
      </p:sp>
      <p:pic>
        <p:nvPicPr>
          <p:cNvPr id="1026" name="Picture 2" descr="traditional web server model">
            <a:extLst>
              <a:ext uri="{FF2B5EF4-FFF2-40B4-BE49-F238E27FC236}">
                <a16:creationId xmlns:a16="http://schemas.microsoft.com/office/drawing/2014/main" id="{5EF38004-AB24-426D-9C4D-D6C3441F913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1663" b="23420"/>
          <a:stretch/>
        </p:blipFill>
        <p:spPr bwMode="auto">
          <a:xfrm>
            <a:off x="1600201" y="1562101"/>
            <a:ext cx="9010650" cy="29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37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362CA-52E6-4505-8A90-B27BD218BD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1B3F9B-B7D1-4207-84BF-534890A9D1DA}"/>
              </a:ext>
            </a:extLst>
          </p:cNvPr>
          <p:cNvSpPr>
            <a:spLocks noGrp="1"/>
          </p:cNvSpPr>
          <p:nvPr>
            <p:ph idx="1"/>
          </p:nvPr>
        </p:nvSpPr>
        <p:spPr/>
        <p:txBody>
          <a:bodyPr/>
          <a:lstStyle/>
          <a:p>
            <a:r>
              <a:rPr lang="en-US" dirty="0"/>
              <a:t>Each request is handled by a dedicated thread from the thread pool.</a:t>
            </a:r>
          </a:p>
          <a:p>
            <a:r>
              <a:rPr lang="en-US" dirty="0"/>
              <a:t>If no thread is available in the thread pool at any point of time then the request waits till the next available thread. </a:t>
            </a:r>
          </a:p>
          <a:p>
            <a:r>
              <a:rPr lang="en-US" dirty="0"/>
              <a:t>Dedicated thread executes a particular request and does not return to thread pool until it completes the execution and returns a response.</a:t>
            </a:r>
            <a:endParaRPr lang="en-IN" dirty="0"/>
          </a:p>
        </p:txBody>
      </p:sp>
    </p:spTree>
    <p:extLst>
      <p:ext uri="{BB962C8B-B14F-4D97-AF65-F5344CB8AC3E}">
        <p14:creationId xmlns:p14="http://schemas.microsoft.com/office/powerpoint/2010/main" val="1116349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D93C-9E72-4B7F-91D7-5745B4035BFC}"/>
              </a:ext>
            </a:extLst>
          </p:cNvPr>
          <p:cNvSpPr>
            <a:spLocks noGrp="1"/>
          </p:cNvSpPr>
          <p:nvPr>
            <p:ph type="title"/>
          </p:nvPr>
        </p:nvSpPr>
        <p:spPr/>
        <p:txBody>
          <a:bodyPr/>
          <a:lstStyle/>
          <a:p>
            <a:r>
              <a:rPr lang="en-US" dirty="0"/>
              <a:t>Node.JS process model</a:t>
            </a:r>
            <a:endParaRPr lang="en-IN" dirty="0"/>
          </a:p>
        </p:txBody>
      </p:sp>
      <p:pic>
        <p:nvPicPr>
          <p:cNvPr id="5" name="Content Placeholder 4">
            <a:extLst>
              <a:ext uri="{FF2B5EF4-FFF2-40B4-BE49-F238E27FC236}">
                <a16:creationId xmlns:a16="http://schemas.microsoft.com/office/drawing/2014/main" id="{8BDC203A-B34C-43DB-BF8D-93867A80C180}"/>
              </a:ext>
            </a:extLst>
          </p:cNvPr>
          <p:cNvPicPr>
            <a:picLocks noGrp="1" noChangeAspect="1"/>
          </p:cNvPicPr>
          <p:nvPr>
            <p:ph idx="1"/>
          </p:nvPr>
        </p:nvPicPr>
        <p:blipFill>
          <a:blip r:embed="rId2"/>
          <a:stretch>
            <a:fillRect/>
          </a:stretch>
        </p:blipFill>
        <p:spPr>
          <a:xfrm>
            <a:off x="1295400" y="1825625"/>
            <a:ext cx="9105900" cy="4351338"/>
          </a:xfrm>
        </p:spPr>
      </p:pic>
    </p:spTree>
    <p:extLst>
      <p:ext uri="{BB962C8B-B14F-4D97-AF65-F5344CB8AC3E}">
        <p14:creationId xmlns:p14="http://schemas.microsoft.com/office/powerpoint/2010/main" val="3093887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24485F-65FD-4A77-AF48-97FF872379EE}"/>
              </a:ext>
            </a:extLst>
          </p:cNvPr>
          <p:cNvSpPr>
            <a:spLocks noGrp="1"/>
          </p:cNvSpPr>
          <p:nvPr>
            <p:ph idx="1"/>
          </p:nvPr>
        </p:nvSpPr>
        <p:spPr>
          <a:xfrm>
            <a:off x="838200" y="447675"/>
            <a:ext cx="10515600" cy="5729288"/>
          </a:xfrm>
        </p:spPr>
        <p:txBody>
          <a:bodyPr/>
          <a:lstStyle/>
          <a:p>
            <a:r>
              <a:rPr lang="en-US" dirty="0"/>
              <a:t>Node.js runs in a single process and the application code runs in a single thread and thereby needs less resources than other platforms.</a:t>
            </a:r>
          </a:p>
          <a:p>
            <a:r>
              <a:rPr lang="en-US" dirty="0"/>
              <a:t>All the user requests to your web application will be handled by a single thread and all the I/O work or long running job is performed asynchronously for a particular request. </a:t>
            </a:r>
          </a:p>
          <a:p>
            <a:r>
              <a:rPr lang="en-US" dirty="0"/>
              <a:t>So, this single thread doesn't have to wait for the request to complete and is free to handle the next request. </a:t>
            </a:r>
          </a:p>
          <a:p>
            <a:r>
              <a:rPr lang="en-US" dirty="0"/>
              <a:t>When asynchronous I/O work completes then it processes the request further and sends the response.</a:t>
            </a:r>
          </a:p>
          <a:p>
            <a:r>
              <a:rPr lang="en-US" dirty="0"/>
              <a:t>An event loop is constantly watching for the events to be raised for an asynchronous job and executing callback function when the job completes.</a:t>
            </a:r>
            <a:endParaRPr lang="en-IN" dirty="0"/>
          </a:p>
        </p:txBody>
      </p:sp>
    </p:spTree>
    <p:extLst>
      <p:ext uri="{BB962C8B-B14F-4D97-AF65-F5344CB8AC3E}">
        <p14:creationId xmlns:p14="http://schemas.microsoft.com/office/powerpoint/2010/main" val="527327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0A591F-E9F1-4759-B7B9-4467EF8E2706}"/>
              </a:ext>
            </a:extLst>
          </p:cNvPr>
          <p:cNvSpPr>
            <a:spLocks noGrp="1"/>
          </p:cNvSpPr>
          <p:nvPr>
            <p:ph idx="1"/>
          </p:nvPr>
        </p:nvSpPr>
        <p:spPr>
          <a:xfrm>
            <a:off x="838200" y="1152525"/>
            <a:ext cx="10515600" cy="5414963"/>
          </a:xfrm>
        </p:spPr>
        <p:txBody>
          <a:bodyPr>
            <a:normAutofit/>
          </a:bodyPr>
          <a:lstStyle/>
          <a:p>
            <a:r>
              <a:rPr lang="en-US" dirty="0"/>
              <a:t>Both the browser and Node.js use JavaScript as their programming language.</a:t>
            </a:r>
          </a:p>
          <a:p>
            <a:r>
              <a:rPr lang="en-US" dirty="0"/>
              <a:t>From the perspective of a frontend developer who extensively uses JavaScript, Node.js apps bring with them a huge advantage: the comfort of programming everything - the frontend and the backend - in a single language.</a:t>
            </a:r>
          </a:p>
          <a:p>
            <a:r>
              <a:rPr lang="en-US" dirty="0"/>
              <a:t>In the browser, most of the time what you are doing is interacting with the DOM, or other Web Platform APIs like Cookies. You don't have the document, window and all the other objects that are provided by the browser in Node.</a:t>
            </a:r>
          </a:p>
          <a:p>
            <a:r>
              <a:rPr lang="en-US" dirty="0"/>
              <a:t>And in the browser, we don't have all the nice APIs that Node.js provides through its modules, like the filesystem access functionality.</a:t>
            </a:r>
          </a:p>
          <a:p>
            <a:endParaRPr lang="en-US" dirty="0"/>
          </a:p>
          <a:p>
            <a:endParaRPr lang="en-IN" dirty="0"/>
          </a:p>
        </p:txBody>
      </p:sp>
      <p:sp>
        <p:nvSpPr>
          <p:cNvPr id="6" name="Title 5">
            <a:extLst>
              <a:ext uri="{FF2B5EF4-FFF2-40B4-BE49-F238E27FC236}">
                <a16:creationId xmlns:a16="http://schemas.microsoft.com/office/drawing/2014/main" id="{24A7E6C0-C1C7-46CF-8BA5-037978434182}"/>
              </a:ext>
            </a:extLst>
          </p:cNvPr>
          <p:cNvSpPr>
            <a:spLocks noGrp="1"/>
          </p:cNvSpPr>
          <p:nvPr>
            <p:ph type="title"/>
          </p:nvPr>
        </p:nvSpPr>
        <p:spPr>
          <a:xfrm>
            <a:off x="304800" y="169862"/>
            <a:ext cx="10515600" cy="511175"/>
          </a:xfrm>
        </p:spPr>
        <p:txBody>
          <a:bodyPr>
            <a:normAutofit fontScale="90000"/>
          </a:bodyPr>
          <a:lstStyle/>
          <a:p>
            <a:r>
              <a:rPr lang="en-US" dirty="0"/>
              <a:t>Differences between browser and Node JS</a:t>
            </a:r>
            <a:endParaRPr lang="en-IN" dirty="0"/>
          </a:p>
        </p:txBody>
      </p:sp>
    </p:spTree>
    <p:extLst>
      <p:ext uri="{BB962C8B-B14F-4D97-AF65-F5344CB8AC3E}">
        <p14:creationId xmlns:p14="http://schemas.microsoft.com/office/powerpoint/2010/main" val="305198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120FE-BA92-46F0-91EB-4E7B1044145F}"/>
              </a:ext>
            </a:extLst>
          </p:cNvPr>
          <p:cNvSpPr>
            <a:spLocks noGrp="1"/>
          </p:cNvSpPr>
          <p:nvPr>
            <p:ph type="title"/>
          </p:nvPr>
        </p:nvSpPr>
        <p:spPr/>
        <p:txBody>
          <a:bodyPr/>
          <a:lstStyle/>
          <a:p>
            <a:r>
              <a:rPr lang="en-US" dirty="0"/>
              <a:t>Installation</a:t>
            </a:r>
            <a:endParaRPr lang="en-IN" dirty="0"/>
          </a:p>
        </p:txBody>
      </p:sp>
      <p:sp>
        <p:nvSpPr>
          <p:cNvPr id="3" name="Content Placeholder 2">
            <a:extLst>
              <a:ext uri="{FF2B5EF4-FFF2-40B4-BE49-F238E27FC236}">
                <a16:creationId xmlns:a16="http://schemas.microsoft.com/office/drawing/2014/main" id="{552FE117-680A-42A3-B412-D7388AC1847B}"/>
              </a:ext>
            </a:extLst>
          </p:cNvPr>
          <p:cNvSpPr>
            <a:spLocks noGrp="1"/>
          </p:cNvSpPr>
          <p:nvPr>
            <p:ph idx="1"/>
          </p:nvPr>
        </p:nvSpPr>
        <p:spPr/>
        <p:txBody>
          <a:bodyPr>
            <a:normAutofit lnSpcReduction="10000"/>
          </a:bodyPr>
          <a:lstStyle/>
          <a:p>
            <a:r>
              <a:rPr lang="en-US" dirty="0"/>
              <a:t>Visit Node.js official web site https://nodejs.org. It will automatically detect OS and display download link as per your Operating System. </a:t>
            </a:r>
          </a:p>
          <a:p>
            <a:r>
              <a:rPr lang="en-US" dirty="0"/>
              <a:t>After you download the MSI, double-click on it to start the installation as shown below.</a:t>
            </a:r>
          </a:p>
          <a:p>
            <a:r>
              <a:rPr lang="en-US" dirty="0"/>
              <a:t>To Install Node.js on Mac/Linux, Visit Node.js official web site https://nodejs.org/en/download page. Click on the appropriate installer for Mac (.pkg or .tar.gz) or Linux to download the Node.js installer.</a:t>
            </a:r>
          </a:p>
          <a:p>
            <a:r>
              <a:rPr lang="en-US" dirty="0"/>
              <a:t>To test the successful installation, open </a:t>
            </a:r>
            <a:r>
              <a:rPr lang="en-US" dirty="0" err="1"/>
              <a:t>cmd</a:t>
            </a:r>
            <a:r>
              <a:rPr lang="en-US" dirty="0"/>
              <a:t>, type node –v</a:t>
            </a:r>
          </a:p>
          <a:p>
            <a:r>
              <a:rPr lang="en-US" dirty="0"/>
              <a:t>(Check the </a:t>
            </a:r>
            <a:r>
              <a:rPr lang="en-US" dirty="0" err="1"/>
              <a:t>cmd</a:t>
            </a:r>
            <a:r>
              <a:rPr lang="en-US" dirty="0"/>
              <a:t> screenshot posted in next slide)</a:t>
            </a:r>
          </a:p>
          <a:p>
            <a:endParaRPr lang="en-US" dirty="0"/>
          </a:p>
          <a:p>
            <a:endParaRPr lang="en-IN" dirty="0"/>
          </a:p>
        </p:txBody>
      </p:sp>
    </p:spTree>
    <p:extLst>
      <p:ext uri="{BB962C8B-B14F-4D97-AF65-F5344CB8AC3E}">
        <p14:creationId xmlns:p14="http://schemas.microsoft.com/office/powerpoint/2010/main" val="3173837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69775-C4BA-4CC6-A288-CF00D1E4C6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1B34BB-DBEA-43E3-B87E-AEAA2A753BB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EA5CE17-9E34-4DCE-9873-DB9A54DEB077}"/>
              </a:ext>
            </a:extLst>
          </p:cNvPr>
          <p:cNvPicPr>
            <a:picLocks noChangeAspect="1"/>
          </p:cNvPicPr>
          <p:nvPr/>
        </p:nvPicPr>
        <p:blipFill rotWithShape="1">
          <a:blip r:embed="rId2"/>
          <a:srcRect t="14305" r="11094" b="42778"/>
          <a:stretch/>
        </p:blipFill>
        <p:spPr>
          <a:xfrm>
            <a:off x="838200" y="1825625"/>
            <a:ext cx="10839450" cy="2943225"/>
          </a:xfrm>
          <a:prstGeom prst="rect">
            <a:avLst/>
          </a:prstGeom>
        </p:spPr>
      </p:pic>
    </p:spTree>
    <p:extLst>
      <p:ext uri="{BB962C8B-B14F-4D97-AF65-F5344CB8AC3E}">
        <p14:creationId xmlns:p14="http://schemas.microsoft.com/office/powerpoint/2010/main" val="3201505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F3C74-96D6-4126-B279-9E69C1EB8945}"/>
              </a:ext>
            </a:extLst>
          </p:cNvPr>
          <p:cNvSpPr>
            <a:spLocks noGrp="1"/>
          </p:cNvSpPr>
          <p:nvPr>
            <p:ph type="title"/>
          </p:nvPr>
        </p:nvSpPr>
        <p:spPr>
          <a:xfrm>
            <a:off x="114300" y="131762"/>
            <a:ext cx="10515600" cy="549275"/>
          </a:xfrm>
        </p:spPr>
        <p:txBody>
          <a:bodyPr>
            <a:normAutofit fontScale="90000"/>
          </a:bodyPr>
          <a:lstStyle/>
          <a:p>
            <a:r>
              <a:rPr lang="en-US" dirty="0"/>
              <a:t>Node JS console </a:t>
            </a:r>
            <a:endParaRPr lang="en-IN" dirty="0"/>
          </a:p>
        </p:txBody>
      </p:sp>
      <p:sp>
        <p:nvSpPr>
          <p:cNvPr id="3" name="Content Placeholder 2">
            <a:extLst>
              <a:ext uri="{FF2B5EF4-FFF2-40B4-BE49-F238E27FC236}">
                <a16:creationId xmlns:a16="http://schemas.microsoft.com/office/drawing/2014/main" id="{7DE32452-A1A7-4231-9BFB-78713C48CF3C}"/>
              </a:ext>
            </a:extLst>
          </p:cNvPr>
          <p:cNvSpPr>
            <a:spLocks noGrp="1"/>
          </p:cNvSpPr>
          <p:nvPr>
            <p:ph idx="1"/>
          </p:nvPr>
        </p:nvSpPr>
        <p:spPr>
          <a:xfrm>
            <a:off x="409575" y="876300"/>
            <a:ext cx="10944225" cy="5300663"/>
          </a:xfrm>
        </p:spPr>
        <p:txBody>
          <a:bodyPr/>
          <a:lstStyle/>
          <a:p>
            <a:endParaRPr lang="en-US" dirty="0"/>
          </a:p>
          <a:p>
            <a:r>
              <a:rPr lang="en-US" dirty="0"/>
              <a:t>Node.js comes with virtual environment called REPL (aka Node shell). REPL stands for Read-Eval-Print-Loop. It is a quick and easy way to test simple Node.js/JavaScript code.</a:t>
            </a:r>
          </a:p>
          <a:p>
            <a:r>
              <a:rPr lang="en-US" dirty="0"/>
              <a:t>To launch the REPL (Node shell), open command prompt (in Windows) or terminal (in Mac or UNIX/Linux) and type node as shown below. It will change the prompt to &gt; in Windows and MAC.</a:t>
            </a:r>
          </a:p>
          <a:p>
            <a:r>
              <a:rPr lang="en-US" dirty="0"/>
              <a:t>I have attached screenshot in the next slide with certain expressions and functions</a:t>
            </a:r>
          </a:p>
          <a:p>
            <a:endParaRPr lang="en-IN" dirty="0"/>
          </a:p>
        </p:txBody>
      </p:sp>
    </p:spTree>
    <p:extLst>
      <p:ext uri="{BB962C8B-B14F-4D97-AF65-F5344CB8AC3E}">
        <p14:creationId xmlns:p14="http://schemas.microsoft.com/office/powerpoint/2010/main" val="3445671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7A05-23D6-40F8-A4C3-090F068281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65C90D-AE99-4130-8352-84C9813F811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E0C887E-8849-4BA9-A6E0-86AC42313166}"/>
              </a:ext>
            </a:extLst>
          </p:cNvPr>
          <p:cNvPicPr>
            <a:picLocks noChangeAspect="1"/>
          </p:cNvPicPr>
          <p:nvPr/>
        </p:nvPicPr>
        <p:blipFill rotWithShape="1">
          <a:blip r:embed="rId2"/>
          <a:srcRect b="18611"/>
          <a:stretch/>
        </p:blipFill>
        <p:spPr>
          <a:xfrm>
            <a:off x="76200" y="1210469"/>
            <a:ext cx="12192000" cy="5581650"/>
          </a:xfrm>
          <a:prstGeom prst="rect">
            <a:avLst/>
          </a:prstGeom>
        </p:spPr>
      </p:pic>
    </p:spTree>
    <p:extLst>
      <p:ext uri="{BB962C8B-B14F-4D97-AF65-F5344CB8AC3E}">
        <p14:creationId xmlns:p14="http://schemas.microsoft.com/office/powerpoint/2010/main" val="3910515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3B85-9C6F-418B-BC98-1238FFD6B132}"/>
              </a:ext>
            </a:extLst>
          </p:cNvPr>
          <p:cNvSpPr>
            <a:spLocks noGrp="1"/>
          </p:cNvSpPr>
          <p:nvPr>
            <p:ph type="title"/>
          </p:nvPr>
        </p:nvSpPr>
        <p:spPr>
          <a:xfrm>
            <a:off x="180975" y="241301"/>
            <a:ext cx="10515600" cy="520700"/>
          </a:xfrm>
        </p:spPr>
        <p:txBody>
          <a:bodyPr>
            <a:normAutofit fontScale="90000"/>
          </a:bodyPr>
          <a:lstStyle/>
          <a:p>
            <a:r>
              <a:rPr lang="en-US" dirty="0"/>
              <a:t>Datatypes</a:t>
            </a:r>
            <a:endParaRPr lang="en-IN" dirty="0"/>
          </a:p>
        </p:txBody>
      </p:sp>
      <p:sp>
        <p:nvSpPr>
          <p:cNvPr id="3" name="Content Placeholder 2">
            <a:extLst>
              <a:ext uri="{FF2B5EF4-FFF2-40B4-BE49-F238E27FC236}">
                <a16:creationId xmlns:a16="http://schemas.microsoft.com/office/drawing/2014/main" id="{63B07A17-7B90-4D0A-830F-4504341D7AB6}"/>
              </a:ext>
            </a:extLst>
          </p:cNvPr>
          <p:cNvSpPr>
            <a:spLocks noGrp="1"/>
          </p:cNvSpPr>
          <p:nvPr>
            <p:ph idx="1"/>
          </p:nvPr>
        </p:nvSpPr>
        <p:spPr>
          <a:xfrm>
            <a:off x="600075" y="952500"/>
            <a:ext cx="10515600" cy="5472113"/>
          </a:xfrm>
        </p:spPr>
        <p:txBody>
          <a:bodyPr>
            <a:normAutofit lnSpcReduction="10000"/>
          </a:bodyPr>
          <a:lstStyle/>
          <a:p>
            <a:pPr algn="just">
              <a:buFont typeface="Arial" panose="020B0604020202020204" pitchFamily="34" charset="0"/>
              <a:buChar char="•"/>
            </a:pPr>
            <a:r>
              <a:rPr lang="en-US" b="0" i="0" dirty="0">
                <a:solidFill>
                  <a:srgbClr val="181717"/>
                </a:solidFill>
                <a:effectLst/>
                <a:latin typeface="Verdana" panose="020B0604030504040204" pitchFamily="34" charset="0"/>
              </a:rPr>
              <a:t>String</a:t>
            </a:r>
          </a:p>
          <a:p>
            <a:pPr algn="just">
              <a:buFont typeface="Arial" panose="020B0604020202020204" pitchFamily="34" charset="0"/>
              <a:buChar char="•"/>
            </a:pPr>
            <a:r>
              <a:rPr lang="en-US" b="0" i="0" dirty="0">
                <a:solidFill>
                  <a:srgbClr val="181717"/>
                </a:solidFill>
                <a:effectLst/>
                <a:latin typeface="Verdana" panose="020B0604030504040204" pitchFamily="34" charset="0"/>
              </a:rPr>
              <a:t>Number</a:t>
            </a:r>
          </a:p>
          <a:p>
            <a:pPr algn="just">
              <a:buFont typeface="Arial" panose="020B0604020202020204" pitchFamily="34" charset="0"/>
              <a:buChar char="•"/>
            </a:pPr>
            <a:r>
              <a:rPr lang="en-US" b="0" i="0" dirty="0">
                <a:solidFill>
                  <a:srgbClr val="181717"/>
                </a:solidFill>
                <a:effectLst/>
                <a:latin typeface="Verdana" panose="020B0604030504040204" pitchFamily="34" charset="0"/>
              </a:rPr>
              <a:t>Boolean</a:t>
            </a:r>
          </a:p>
          <a:p>
            <a:pPr algn="just">
              <a:buFont typeface="Arial" panose="020B0604020202020204" pitchFamily="34" charset="0"/>
              <a:buChar char="•"/>
            </a:pPr>
            <a:r>
              <a:rPr lang="en-US" b="0" i="0" dirty="0">
                <a:solidFill>
                  <a:srgbClr val="181717"/>
                </a:solidFill>
                <a:effectLst/>
                <a:latin typeface="Verdana" panose="020B0604030504040204" pitchFamily="34" charset="0"/>
              </a:rPr>
              <a:t>Undefined</a:t>
            </a:r>
          </a:p>
          <a:p>
            <a:pPr algn="just">
              <a:buFont typeface="Arial" panose="020B0604020202020204" pitchFamily="34" charset="0"/>
              <a:buChar char="•"/>
            </a:pPr>
            <a:r>
              <a:rPr lang="en-US" b="0" i="0" dirty="0">
                <a:solidFill>
                  <a:srgbClr val="181717"/>
                </a:solidFill>
                <a:effectLst/>
                <a:latin typeface="Verdana" panose="020B0604030504040204" pitchFamily="34" charset="0"/>
              </a:rPr>
              <a:t>Null</a:t>
            </a:r>
          </a:p>
          <a:p>
            <a:pPr algn="just">
              <a:buFont typeface="Arial" panose="020B0604020202020204" pitchFamily="34" charset="0"/>
              <a:buChar char="•"/>
            </a:pPr>
            <a:r>
              <a:rPr lang="en-US" b="0" i="0" dirty="0" err="1">
                <a:solidFill>
                  <a:srgbClr val="181717"/>
                </a:solidFill>
                <a:effectLst/>
                <a:latin typeface="Verdana" panose="020B0604030504040204" pitchFamily="34" charset="0"/>
              </a:rPr>
              <a:t>RegExp</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Everything else is an object in Node.js.</a:t>
            </a:r>
          </a:p>
          <a:p>
            <a:r>
              <a:rPr lang="en-US" dirty="0"/>
              <a:t>var obj = {</a:t>
            </a:r>
          </a:p>
          <a:p>
            <a:r>
              <a:rPr lang="en-US" dirty="0"/>
              <a:t>    </a:t>
            </a:r>
            <a:r>
              <a:rPr lang="en-US" dirty="0" err="1"/>
              <a:t>authorName</a:t>
            </a:r>
            <a:r>
              <a:rPr lang="en-US" dirty="0"/>
              <a:t>: 'Ryan Dahl',</a:t>
            </a:r>
          </a:p>
          <a:p>
            <a:r>
              <a:rPr lang="en-US" dirty="0"/>
              <a:t>    language: 'Node.js'</a:t>
            </a:r>
          </a:p>
          <a:p>
            <a:r>
              <a:rPr lang="en-US" dirty="0"/>
              <a:t>}</a:t>
            </a:r>
            <a:br>
              <a:rPr lang="en-US" dirty="0"/>
            </a:br>
            <a:r>
              <a:rPr lang="en-US" dirty="0"/>
              <a:t>	</a:t>
            </a:r>
            <a:endParaRPr lang="en-IN" dirty="0"/>
          </a:p>
        </p:txBody>
      </p:sp>
    </p:spTree>
    <p:extLst>
      <p:ext uri="{BB962C8B-B14F-4D97-AF65-F5344CB8AC3E}">
        <p14:creationId xmlns:p14="http://schemas.microsoft.com/office/powerpoint/2010/main" val="1065578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DF0F-F9AF-4100-B3CF-1E637695AA8D}"/>
              </a:ext>
            </a:extLst>
          </p:cNvPr>
          <p:cNvSpPr>
            <a:spLocks noGrp="1"/>
          </p:cNvSpPr>
          <p:nvPr>
            <p:ph type="title"/>
          </p:nvPr>
        </p:nvSpPr>
        <p:spPr/>
        <p:txBody>
          <a:bodyPr/>
          <a:lstStyle/>
          <a:p>
            <a:r>
              <a:rPr lang="en-IN" b="0" i="0" dirty="0">
                <a:solidFill>
                  <a:srgbClr val="181717"/>
                </a:solidFill>
                <a:effectLst/>
                <a:latin typeface="Segoe UI" panose="020B0502040204020203" pitchFamily="34" charset="0"/>
              </a:rPr>
              <a:t>Functions</a:t>
            </a:r>
            <a:br>
              <a:rPr lang="en-IN" b="0" i="0" dirty="0">
                <a:solidFill>
                  <a:srgbClr val="181717"/>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069CECA3-7E1F-4EF9-96C8-DC976FFE1527}"/>
              </a:ext>
            </a:extLst>
          </p:cNvPr>
          <p:cNvSpPr>
            <a:spLocks noGrp="1"/>
          </p:cNvSpPr>
          <p:nvPr>
            <p:ph idx="1"/>
          </p:nvPr>
        </p:nvSpPr>
        <p:spPr/>
        <p:txBody>
          <a:bodyPr/>
          <a:lstStyle/>
          <a:p>
            <a:pPr marL="0" indent="0">
              <a:buNone/>
            </a:pPr>
            <a:r>
              <a:rPr lang="en-US" dirty="0"/>
              <a:t>function Display(x) { </a:t>
            </a:r>
          </a:p>
          <a:p>
            <a:pPr marL="0" indent="0">
              <a:buNone/>
            </a:pPr>
            <a:r>
              <a:rPr lang="en-US" dirty="0"/>
              <a:t>console.log(x);</a:t>
            </a:r>
          </a:p>
          <a:p>
            <a:pPr marL="0" indent="0">
              <a:buNone/>
            </a:pPr>
            <a:r>
              <a:rPr lang="en-US" dirty="0"/>
              <a:t>}</a:t>
            </a:r>
          </a:p>
          <a:p>
            <a:pPr marL="0" indent="0">
              <a:buNone/>
            </a:pPr>
            <a:r>
              <a:rPr lang="en-US" dirty="0"/>
              <a:t>Display(100);</a:t>
            </a:r>
            <a:endParaRPr lang="en-IN" dirty="0"/>
          </a:p>
        </p:txBody>
      </p:sp>
    </p:spTree>
    <p:extLst>
      <p:ext uri="{BB962C8B-B14F-4D97-AF65-F5344CB8AC3E}">
        <p14:creationId xmlns:p14="http://schemas.microsoft.com/office/powerpoint/2010/main" val="2256421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C7C90F-44DD-4A4B-B53D-7E69D17FDD66}"/>
              </a:ext>
            </a:extLst>
          </p:cNvPr>
          <p:cNvSpPr>
            <a:spLocks noGrp="1"/>
          </p:cNvSpPr>
          <p:nvPr>
            <p:ph idx="1"/>
          </p:nvPr>
        </p:nvSpPr>
        <p:spPr>
          <a:xfrm>
            <a:off x="838200" y="247650"/>
            <a:ext cx="10515600" cy="5881688"/>
          </a:xfrm>
        </p:spPr>
        <p:txBody>
          <a:bodyPr>
            <a:normAutofit fontScale="92500" lnSpcReduction="10000"/>
          </a:bodyPr>
          <a:lstStyle/>
          <a:p>
            <a:pPr marL="0" indent="0">
              <a:buNone/>
            </a:pPr>
            <a:r>
              <a:rPr lang="en-US" u="sng" dirty="0"/>
              <a:t>Buffer</a:t>
            </a:r>
          </a:p>
          <a:p>
            <a:r>
              <a:rPr lang="en-US" dirty="0"/>
              <a:t>Node.js includes an additional data type called Buffer (not available in browser's JavaScript). Buffer is mainly used to store binary data, while reading from a file or receiving packets over the network.</a:t>
            </a:r>
          </a:p>
          <a:p>
            <a:pPr marL="0" indent="0">
              <a:buNone/>
            </a:pPr>
            <a:r>
              <a:rPr lang="en-US" u="sng" dirty="0"/>
              <a:t>process</a:t>
            </a:r>
            <a:r>
              <a:rPr lang="en-US" dirty="0"/>
              <a:t> object</a:t>
            </a:r>
          </a:p>
          <a:p>
            <a:r>
              <a:rPr lang="en-US" dirty="0"/>
              <a:t>Each Node.js script runs in a process. It includes process object to get all the information about the current process of Node.js application.</a:t>
            </a:r>
          </a:p>
          <a:p>
            <a:pPr marL="0" indent="0">
              <a:buNone/>
            </a:pPr>
            <a:r>
              <a:rPr lang="en-US" u="sng" dirty="0"/>
              <a:t>Access Global Scope</a:t>
            </a:r>
          </a:p>
          <a:p>
            <a:r>
              <a:rPr lang="en-US" dirty="0"/>
              <a:t>In a browser, global scope is the window object. In Node.js, global object represents the global scope.</a:t>
            </a:r>
          </a:p>
          <a:p>
            <a:r>
              <a:rPr lang="en-US" dirty="0"/>
              <a:t>To add something in global scope, you need to export it using export or </a:t>
            </a:r>
            <a:r>
              <a:rPr lang="en-US" dirty="0" err="1"/>
              <a:t>module.export</a:t>
            </a:r>
            <a:r>
              <a:rPr lang="en-US" dirty="0"/>
              <a:t>. The same way, import modules/object using require() function to access it from the global scope.</a:t>
            </a:r>
          </a:p>
          <a:p>
            <a:r>
              <a:rPr lang="en-US" dirty="0"/>
              <a:t>For example, to export an object in Node.js, use exports.name = object.</a:t>
            </a:r>
            <a:endParaRPr lang="en-IN" dirty="0"/>
          </a:p>
        </p:txBody>
      </p:sp>
    </p:spTree>
    <p:extLst>
      <p:ext uri="{BB962C8B-B14F-4D97-AF65-F5344CB8AC3E}">
        <p14:creationId xmlns:p14="http://schemas.microsoft.com/office/powerpoint/2010/main" val="4193479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068C-B3D6-4871-9874-EBC7D699E473}"/>
              </a:ext>
            </a:extLst>
          </p:cNvPr>
          <p:cNvSpPr>
            <a:spLocks noGrp="1"/>
          </p:cNvSpPr>
          <p:nvPr>
            <p:ph type="title"/>
          </p:nvPr>
        </p:nvSpPr>
        <p:spPr/>
        <p:txBody>
          <a:bodyPr/>
          <a:lstStyle/>
          <a:p>
            <a:r>
              <a:rPr lang="en-US" dirty="0"/>
              <a:t>Story about require, modules, export in Node</a:t>
            </a:r>
            <a:endParaRPr lang="en-IN" dirty="0"/>
          </a:p>
        </p:txBody>
      </p:sp>
      <p:sp>
        <p:nvSpPr>
          <p:cNvPr id="3" name="Content Placeholder 2">
            <a:extLst>
              <a:ext uri="{FF2B5EF4-FFF2-40B4-BE49-F238E27FC236}">
                <a16:creationId xmlns:a16="http://schemas.microsoft.com/office/drawing/2014/main" id="{D29F2008-E67B-493D-A01C-50C7A9DA71C5}"/>
              </a:ext>
            </a:extLst>
          </p:cNvPr>
          <p:cNvSpPr>
            <a:spLocks noGrp="1"/>
          </p:cNvSpPr>
          <p:nvPr>
            <p:ph idx="1"/>
          </p:nvPr>
        </p:nvSpPr>
        <p:spPr>
          <a:xfrm>
            <a:off x="933450" y="1492250"/>
            <a:ext cx="10515600" cy="4351338"/>
          </a:xfrm>
        </p:spPr>
        <p:txBody>
          <a:bodyPr/>
          <a:lstStyle/>
          <a:p>
            <a:r>
              <a:rPr lang="en-US" dirty="0"/>
              <a:t>Node.js treats each JavaScript file as a separate module.</a:t>
            </a:r>
          </a:p>
          <a:p>
            <a:r>
              <a:rPr lang="en-US" b="0" i="0" dirty="0">
                <a:solidFill>
                  <a:srgbClr val="181717"/>
                </a:solidFill>
                <a:effectLst/>
              </a:rPr>
              <a:t>Each module in Node.js has its own context, so it cannot interfere with other modules or pollute global scope. Also, each module can be placed in a separate .</a:t>
            </a:r>
            <a:r>
              <a:rPr lang="en-US" b="0" i="0" dirty="0" err="1">
                <a:solidFill>
                  <a:srgbClr val="181717"/>
                </a:solidFill>
                <a:effectLst/>
              </a:rPr>
              <a:t>js</a:t>
            </a:r>
            <a:r>
              <a:rPr lang="en-US" b="0" i="0" dirty="0">
                <a:solidFill>
                  <a:srgbClr val="181717"/>
                </a:solidFill>
                <a:effectLst/>
              </a:rPr>
              <a:t> file under a separate folder.</a:t>
            </a:r>
            <a:endParaRPr lang="en-US" dirty="0"/>
          </a:p>
          <a:p>
            <a:r>
              <a:rPr lang="en-IN" dirty="0"/>
              <a:t>When a code is written</a:t>
            </a:r>
            <a:r>
              <a:rPr lang="en-US" b="0" i="0" dirty="0">
                <a:solidFill>
                  <a:srgbClr val="0A0A23"/>
                </a:solidFill>
                <a:effectLst/>
                <a:latin typeface="Lato"/>
              </a:rPr>
              <a:t>, Node takes the entire code and encloses it within a function wrapper. </a:t>
            </a:r>
          </a:p>
          <a:p>
            <a:r>
              <a:rPr lang="en-US" b="0" i="0" dirty="0">
                <a:solidFill>
                  <a:srgbClr val="0A0A23"/>
                </a:solidFill>
                <a:effectLst/>
                <a:latin typeface="Lato"/>
              </a:rPr>
              <a:t>The syntax of this function wrapper is:</a:t>
            </a:r>
            <a:endParaRPr lang="en-IN" dirty="0"/>
          </a:p>
        </p:txBody>
      </p:sp>
      <p:pic>
        <p:nvPicPr>
          <p:cNvPr id="5123" name="Picture 3">
            <a:extLst>
              <a:ext uri="{FF2B5EF4-FFF2-40B4-BE49-F238E27FC236}">
                <a16:creationId xmlns:a16="http://schemas.microsoft.com/office/drawing/2014/main" id="{98D56EB9-0B6A-4545-844F-F46A02681D67}"/>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191250" y="4724400"/>
            <a:ext cx="5715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637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DA0559-03EF-4BF3-A1D1-77D922DEA8E2}"/>
              </a:ext>
            </a:extLst>
          </p:cNvPr>
          <p:cNvSpPr>
            <a:spLocks noGrp="1"/>
          </p:cNvSpPr>
          <p:nvPr>
            <p:ph idx="1"/>
          </p:nvPr>
        </p:nvSpPr>
        <p:spPr>
          <a:xfrm>
            <a:off x="0" y="0"/>
            <a:ext cx="11353800" cy="6176963"/>
          </a:xfrm>
        </p:spPr>
        <p:txBody>
          <a:bodyPr/>
          <a:lstStyle/>
          <a:p>
            <a:r>
              <a:rPr lang="en-US" dirty="0"/>
              <a:t>The entire code written inside a module is private to the module, unless explicitly stated (exported) otherwise.</a:t>
            </a:r>
          </a:p>
          <a:p>
            <a:r>
              <a:rPr lang="en-US" b="0" i="0" dirty="0">
                <a:solidFill>
                  <a:srgbClr val="0A0A23"/>
                </a:solidFill>
                <a:effectLst/>
                <a:latin typeface="Lato"/>
              </a:rPr>
              <a:t>the variables are scoped locally to the module rather than being scoped globally. </a:t>
            </a:r>
          </a:p>
          <a:p>
            <a:r>
              <a:rPr lang="en-US" b="0" i="0" dirty="0">
                <a:solidFill>
                  <a:srgbClr val="0A0A23"/>
                </a:solidFill>
                <a:effectLst/>
                <a:latin typeface="Lato"/>
              </a:rPr>
              <a:t>This happens because each module has a function wrapper of its own and the code written inside one function is local to that function and cannot be accessed outside this function.</a:t>
            </a:r>
            <a:endParaRPr lang="en-IN" dirty="0"/>
          </a:p>
        </p:txBody>
      </p:sp>
      <p:pic>
        <p:nvPicPr>
          <p:cNvPr id="6146" name="Picture 2">
            <a:extLst>
              <a:ext uri="{FF2B5EF4-FFF2-40B4-BE49-F238E27FC236}">
                <a16:creationId xmlns:a16="http://schemas.microsoft.com/office/drawing/2014/main" id="{8365FC7D-519D-4F65-B95D-61EB62FAF603}"/>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57438" y="3176588"/>
            <a:ext cx="7834312" cy="3328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080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3212-F30E-4B2F-9278-3F56E860B0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551E01-15E5-40C9-A421-BA7A3B825D24}"/>
              </a:ext>
            </a:extLst>
          </p:cNvPr>
          <p:cNvSpPr>
            <a:spLocks noGrp="1"/>
          </p:cNvSpPr>
          <p:nvPr>
            <p:ph idx="1"/>
          </p:nvPr>
        </p:nvSpPr>
        <p:spPr/>
        <p:txBody>
          <a:bodyPr/>
          <a:lstStyle/>
          <a:p>
            <a:r>
              <a:rPr lang="en-US" dirty="0"/>
              <a:t>The five parameters — exports, require, module, __filename, __</a:t>
            </a:r>
            <a:r>
              <a:rPr lang="en-US" dirty="0" err="1"/>
              <a:t>dirname</a:t>
            </a:r>
            <a:r>
              <a:rPr lang="en-US" dirty="0"/>
              <a:t> are available inside each module in Node.</a:t>
            </a:r>
          </a:p>
          <a:p>
            <a:r>
              <a:rPr lang="en-US" dirty="0"/>
              <a:t>So, the question that arises now is how do you specify something in a module that can be used by some other module? This is when the </a:t>
            </a:r>
            <a:r>
              <a:rPr lang="en-US" dirty="0">
                <a:solidFill>
                  <a:schemeClr val="accent2"/>
                </a:solidFill>
              </a:rPr>
              <a:t>module, require, export </a:t>
            </a:r>
            <a:r>
              <a:rPr lang="en-US" dirty="0"/>
              <a:t>parameters of the function wrapper are helpful.</a:t>
            </a:r>
          </a:p>
          <a:p>
            <a:endParaRPr lang="en-US" dirty="0"/>
          </a:p>
          <a:p>
            <a:r>
              <a:rPr lang="en-IN" dirty="0"/>
              <a:t>Practice program- </a:t>
            </a:r>
            <a:r>
              <a:rPr lang="en-IN" dirty="0" err="1"/>
              <a:t>getName</a:t>
            </a:r>
            <a:endParaRPr lang="en-IN" dirty="0"/>
          </a:p>
        </p:txBody>
      </p:sp>
    </p:spTree>
    <p:extLst>
      <p:ext uri="{BB962C8B-B14F-4D97-AF65-F5344CB8AC3E}">
        <p14:creationId xmlns:p14="http://schemas.microsoft.com/office/powerpoint/2010/main" val="3594652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2A74-C89B-40B8-9AE2-F5601A216430}"/>
              </a:ext>
            </a:extLst>
          </p:cNvPr>
          <p:cNvSpPr>
            <a:spLocks noGrp="1"/>
          </p:cNvSpPr>
          <p:nvPr>
            <p:ph type="title"/>
          </p:nvPr>
        </p:nvSpPr>
        <p:spPr>
          <a:xfrm>
            <a:off x="838200" y="365126"/>
            <a:ext cx="10515600" cy="1016000"/>
          </a:xfrm>
        </p:spPr>
        <p:txBody>
          <a:bodyPr>
            <a:normAutofit fontScale="90000"/>
          </a:bodyPr>
          <a:lstStyle/>
          <a:p>
            <a:r>
              <a:rPr lang="en-US" b="0" i="0" dirty="0">
                <a:solidFill>
                  <a:srgbClr val="262626"/>
                </a:solidFill>
                <a:effectLst/>
                <a:latin typeface="Roboto"/>
              </a:rPr>
              <a:t>Exporting Multiple Methods and Values</a:t>
            </a:r>
            <a:br>
              <a:rPr lang="en-US" b="0" i="0" dirty="0">
                <a:solidFill>
                  <a:srgbClr val="262626"/>
                </a:solidFill>
                <a:effectLst/>
                <a:latin typeface="Roboto"/>
              </a:rPr>
            </a:br>
            <a:br>
              <a:rPr lang="en-US" dirty="0"/>
            </a:br>
            <a:endParaRPr lang="en-IN" dirty="0"/>
          </a:p>
        </p:txBody>
      </p:sp>
      <p:sp>
        <p:nvSpPr>
          <p:cNvPr id="3" name="Content Placeholder 2">
            <a:extLst>
              <a:ext uri="{FF2B5EF4-FFF2-40B4-BE49-F238E27FC236}">
                <a16:creationId xmlns:a16="http://schemas.microsoft.com/office/drawing/2014/main" id="{B8360615-ADC6-4085-A5DA-EA0334CAF5D2}"/>
              </a:ext>
            </a:extLst>
          </p:cNvPr>
          <p:cNvSpPr>
            <a:spLocks noGrp="1"/>
          </p:cNvSpPr>
          <p:nvPr>
            <p:ph idx="1"/>
          </p:nvPr>
        </p:nvSpPr>
        <p:spPr/>
        <p:txBody>
          <a:bodyPr/>
          <a:lstStyle/>
          <a:p>
            <a:r>
              <a:rPr lang="en-US" dirty="0"/>
              <a:t>Practice program- </a:t>
            </a:r>
            <a:r>
              <a:rPr lang="en-US" dirty="0" err="1"/>
              <a:t>name,dob,age</a:t>
            </a:r>
            <a:endParaRPr lang="en-IN" dirty="0"/>
          </a:p>
        </p:txBody>
      </p:sp>
    </p:spTree>
    <p:extLst>
      <p:ext uri="{BB962C8B-B14F-4D97-AF65-F5344CB8AC3E}">
        <p14:creationId xmlns:p14="http://schemas.microsoft.com/office/powerpoint/2010/main" val="3647783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DBA5-4CB1-41CB-9F71-DC0779615ED7}"/>
              </a:ext>
            </a:extLst>
          </p:cNvPr>
          <p:cNvSpPr>
            <a:spLocks noGrp="1"/>
          </p:cNvSpPr>
          <p:nvPr>
            <p:ph type="title"/>
          </p:nvPr>
        </p:nvSpPr>
        <p:spPr/>
        <p:txBody>
          <a:bodyPr/>
          <a:lstStyle/>
          <a:p>
            <a:r>
              <a:rPr lang="en-US" dirty="0"/>
              <a:t>Core modules</a:t>
            </a:r>
            <a:endParaRPr lang="en-IN" dirty="0"/>
          </a:p>
        </p:txBody>
      </p:sp>
      <p:sp>
        <p:nvSpPr>
          <p:cNvPr id="3" name="Content Placeholder 2">
            <a:extLst>
              <a:ext uri="{FF2B5EF4-FFF2-40B4-BE49-F238E27FC236}">
                <a16:creationId xmlns:a16="http://schemas.microsoft.com/office/drawing/2014/main" id="{E0726F14-9DAB-4137-9FB7-CDC9701FB117}"/>
              </a:ext>
            </a:extLst>
          </p:cNvPr>
          <p:cNvSpPr>
            <a:spLocks noGrp="1"/>
          </p:cNvSpPr>
          <p:nvPr>
            <p:ph idx="1"/>
          </p:nvPr>
        </p:nvSpPr>
        <p:spPr/>
        <p:txBody>
          <a:bodyPr/>
          <a:lstStyle/>
          <a:p>
            <a:r>
              <a:rPr lang="en-US" dirty="0"/>
              <a:t>http, </a:t>
            </a:r>
            <a:r>
              <a:rPr lang="en-US" dirty="0" err="1"/>
              <a:t>url</a:t>
            </a:r>
            <a:r>
              <a:rPr lang="en-US" dirty="0"/>
              <a:t>, </a:t>
            </a:r>
            <a:r>
              <a:rPr lang="en-US" dirty="0" err="1"/>
              <a:t>querystring</a:t>
            </a:r>
            <a:r>
              <a:rPr lang="en-US" dirty="0"/>
              <a:t>, path, fs, util</a:t>
            </a:r>
          </a:p>
          <a:p>
            <a:r>
              <a:rPr lang="en-US" dirty="0"/>
              <a:t>In order to use Node.js core or NPM modules, you first need to import it using require() function as shown below.</a:t>
            </a:r>
          </a:p>
          <a:p>
            <a:endParaRPr lang="en-US" dirty="0"/>
          </a:p>
          <a:p>
            <a:r>
              <a:rPr lang="en-US" dirty="0"/>
              <a:t>var module = require('</a:t>
            </a:r>
            <a:r>
              <a:rPr lang="en-US" dirty="0" err="1"/>
              <a:t>module_name</a:t>
            </a:r>
            <a:r>
              <a:rPr lang="en-US" dirty="0"/>
              <a:t>');</a:t>
            </a:r>
            <a:endParaRPr lang="en-IN" dirty="0"/>
          </a:p>
        </p:txBody>
      </p:sp>
    </p:spTree>
    <p:extLst>
      <p:ext uri="{BB962C8B-B14F-4D97-AF65-F5344CB8AC3E}">
        <p14:creationId xmlns:p14="http://schemas.microsoft.com/office/powerpoint/2010/main" val="1458501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BE05-96AE-4157-AA6C-44573BF12DCA}"/>
              </a:ext>
            </a:extLst>
          </p:cNvPr>
          <p:cNvSpPr>
            <a:spLocks noGrp="1"/>
          </p:cNvSpPr>
          <p:nvPr>
            <p:ph type="title"/>
          </p:nvPr>
        </p:nvSpPr>
        <p:spPr>
          <a:xfrm>
            <a:off x="0" y="1"/>
            <a:ext cx="10515600" cy="514350"/>
          </a:xfrm>
        </p:spPr>
        <p:txBody>
          <a:bodyPr>
            <a:normAutofit fontScale="90000"/>
          </a:bodyPr>
          <a:lstStyle/>
          <a:p>
            <a:r>
              <a:rPr lang="en-US" dirty="0"/>
              <a:t>Example: http core module</a:t>
            </a:r>
            <a:endParaRPr lang="en-IN" dirty="0"/>
          </a:p>
        </p:txBody>
      </p:sp>
      <p:sp>
        <p:nvSpPr>
          <p:cNvPr id="3" name="Content Placeholder 2">
            <a:extLst>
              <a:ext uri="{FF2B5EF4-FFF2-40B4-BE49-F238E27FC236}">
                <a16:creationId xmlns:a16="http://schemas.microsoft.com/office/drawing/2014/main" id="{06F054B6-D93E-43D0-966F-526DCBA7EA1B}"/>
              </a:ext>
            </a:extLst>
          </p:cNvPr>
          <p:cNvSpPr>
            <a:spLocks noGrp="1"/>
          </p:cNvSpPr>
          <p:nvPr>
            <p:ph idx="1"/>
          </p:nvPr>
        </p:nvSpPr>
        <p:spPr>
          <a:xfrm>
            <a:off x="114300" y="619125"/>
            <a:ext cx="11239500" cy="5557838"/>
          </a:xfrm>
        </p:spPr>
        <p:txBody>
          <a:bodyPr>
            <a:normAutofit lnSpcReduction="10000"/>
          </a:bodyPr>
          <a:lstStyle/>
          <a:p>
            <a:pPr marL="0" indent="0">
              <a:buNone/>
            </a:pPr>
            <a:r>
              <a:rPr lang="en-IN" dirty="0"/>
              <a:t>var http = require('http');</a:t>
            </a:r>
          </a:p>
          <a:p>
            <a:pPr marL="0" indent="0">
              <a:buNone/>
            </a:pPr>
            <a:r>
              <a:rPr lang="en-IN" dirty="0"/>
              <a:t>var server = </a:t>
            </a:r>
            <a:r>
              <a:rPr lang="en-IN" dirty="0" err="1"/>
              <a:t>http.createServer</a:t>
            </a:r>
            <a:r>
              <a:rPr lang="en-IN" dirty="0"/>
              <a:t>(function(</a:t>
            </a:r>
            <a:r>
              <a:rPr lang="en-IN" dirty="0" err="1"/>
              <a:t>req</a:t>
            </a:r>
            <a:r>
              <a:rPr lang="en-IN" dirty="0"/>
              <a:t>, res){</a:t>
            </a:r>
          </a:p>
          <a:p>
            <a:pPr marL="0" indent="0">
              <a:buNone/>
            </a:pPr>
            <a:r>
              <a:rPr lang="en-IN" dirty="0"/>
              <a:t>//write code here</a:t>
            </a:r>
          </a:p>
          <a:p>
            <a:pPr marL="0" indent="0">
              <a:buNone/>
            </a:pPr>
            <a:r>
              <a:rPr lang="en-US" b="0" i="0" dirty="0" err="1">
                <a:solidFill>
                  <a:srgbClr val="000000"/>
                </a:solidFill>
                <a:effectLst/>
                <a:latin typeface="Consolas" panose="020B0609020204030204" pitchFamily="49" charset="0"/>
              </a:rPr>
              <a:t>res.write</a:t>
            </a:r>
            <a:r>
              <a:rPr lang="en-US" b="0" i="0" dirty="0">
                <a:solidFill>
                  <a:srgbClr val="000000"/>
                </a:solidFill>
                <a:effectLst/>
                <a:latin typeface="Consolas" panose="020B0609020204030204" pitchFamily="49" charset="0"/>
              </a:rPr>
              <a:t>(</a:t>
            </a:r>
            <a:r>
              <a:rPr lang="en-US" b="0" i="0" dirty="0">
                <a:solidFill>
                  <a:srgbClr val="A52A2A"/>
                </a:solidFill>
                <a:effectLst/>
                <a:latin typeface="Consolas" panose="020B0609020204030204" pitchFamily="49" charset="0"/>
              </a:rPr>
              <a:t>'Hello World!'</a:t>
            </a: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//write a response to the client</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res.end</a:t>
            </a: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//end the response</a:t>
            </a:r>
            <a:endParaRPr lang="en-IN" dirty="0"/>
          </a:p>
          <a:p>
            <a:pPr marL="0" indent="0">
              <a:buNone/>
            </a:pPr>
            <a:r>
              <a:rPr lang="en-IN" dirty="0"/>
              <a:t>});</a:t>
            </a:r>
          </a:p>
          <a:p>
            <a:pPr marL="0" indent="0">
              <a:buNone/>
            </a:pPr>
            <a:r>
              <a:rPr lang="en-IN" dirty="0" err="1"/>
              <a:t>server.listen</a:t>
            </a:r>
            <a:r>
              <a:rPr lang="en-IN" dirty="0"/>
              <a:t>(5000); </a:t>
            </a:r>
            <a:r>
              <a:rPr lang="en-IN" b="0" i="0" dirty="0">
                <a:solidFill>
                  <a:srgbClr val="008000"/>
                </a:solidFill>
                <a:effectLst/>
                <a:latin typeface="Consolas" panose="020B0609020204030204" pitchFamily="49" charset="0"/>
              </a:rPr>
              <a:t>//the server object listens on port 5000</a:t>
            </a:r>
            <a:endParaRPr lang="en-IN" dirty="0"/>
          </a:p>
          <a:p>
            <a:pPr marL="0" indent="0">
              <a:buNone/>
            </a:pPr>
            <a:endParaRPr lang="en-IN" dirty="0"/>
          </a:p>
          <a:p>
            <a:pPr marL="0" indent="0">
              <a:buNone/>
            </a:pPr>
            <a:r>
              <a:rPr lang="en-IN" dirty="0">
                <a:solidFill>
                  <a:schemeClr val="accent2"/>
                </a:solidFill>
              </a:rPr>
              <a:t>http module </a:t>
            </a:r>
            <a:r>
              <a:rPr lang="en-US" dirty="0">
                <a:solidFill>
                  <a:schemeClr val="accent2"/>
                </a:solidFill>
              </a:rPr>
              <a:t>allows Node.js to transfer data over the Hyper Text Transfer Protocol (HTTP).</a:t>
            </a:r>
          </a:p>
          <a:p>
            <a:pPr marL="0" indent="0">
              <a:buNone/>
            </a:pPr>
            <a:r>
              <a:rPr lang="en-US" dirty="0">
                <a:solidFill>
                  <a:schemeClr val="accent2"/>
                </a:solidFill>
              </a:rPr>
              <a:t>The HTTP module can create an HTTP server that listens to server ports and gives a response back to the client.</a:t>
            </a:r>
            <a:endParaRPr lang="en-IN" dirty="0">
              <a:solidFill>
                <a:schemeClr val="accent2"/>
              </a:solidFill>
            </a:endParaRPr>
          </a:p>
        </p:txBody>
      </p:sp>
    </p:spTree>
    <p:extLst>
      <p:ext uri="{BB962C8B-B14F-4D97-AF65-F5344CB8AC3E}">
        <p14:creationId xmlns:p14="http://schemas.microsoft.com/office/powerpoint/2010/main" val="1950314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AEC5-3A14-478F-8740-0DDC4700D23C}"/>
              </a:ext>
            </a:extLst>
          </p:cNvPr>
          <p:cNvSpPr>
            <a:spLocks noGrp="1"/>
          </p:cNvSpPr>
          <p:nvPr>
            <p:ph type="title"/>
          </p:nvPr>
        </p:nvSpPr>
        <p:spPr/>
        <p:txBody>
          <a:bodyPr/>
          <a:lstStyle/>
          <a:p>
            <a:r>
              <a:rPr lang="en-US" dirty="0"/>
              <a:t>Adding HTTP header </a:t>
            </a:r>
            <a:endParaRPr lang="en-IN" dirty="0"/>
          </a:p>
        </p:txBody>
      </p:sp>
      <p:sp>
        <p:nvSpPr>
          <p:cNvPr id="3" name="Content Placeholder 2">
            <a:extLst>
              <a:ext uri="{FF2B5EF4-FFF2-40B4-BE49-F238E27FC236}">
                <a16:creationId xmlns:a16="http://schemas.microsoft.com/office/drawing/2014/main" id="{5E4473C7-AAF7-4157-A7B9-B85329AEFFBD}"/>
              </a:ext>
            </a:extLst>
          </p:cNvPr>
          <p:cNvSpPr>
            <a:spLocks noGrp="1"/>
          </p:cNvSpPr>
          <p:nvPr>
            <p:ph idx="1"/>
          </p:nvPr>
        </p:nvSpPr>
        <p:spPr/>
        <p:txBody>
          <a:bodyPr/>
          <a:lstStyle/>
          <a:p>
            <a:pPr marL="0" indent="0">
              <a:buNone/>
            </a:pPr>
            <a:r>
              <a:rPr lang="en-IN" b="0" i="0" dirty="0">
                <a:solidFill>
                  <a:srgbClr val="0000CD"/>
                </a:solidFill>
                <a:effectLst/>
                <a:latin typeface="Consolas" panose="020B0609020204030204" pitchFamily="49" charset="0"/>
              </a:rPr>
              <a:t>var</a:t>
            </a:r>
            <a:r>
              <a:rPr lang="en-IN" b="0" i="0" dirty="0">
                <a:solidFill>
                  <a:srgbClr val="000000"/>
                </a:solidFill>
                <a:effectLst/>
                <a:latin typeface="Consolas" panose="020B0609020204030204" pitchFamily="49" charset="0"/>
              </a:rPr>
              <a:t> http = require(</a:t>
            </a:r>
            <a:r>
              <a:rPr lang="en-IN" b="0" i="0" dirty="0">
                <a:solidFill>
                  <a:srgbClr val="A52A2A"/>
                </a:solidFill>
                <a:effectLst/>
                <a:latin typeface="Consolas" panose="020B0609020204030204" pitchFamily="49" charset="0"/>
              </a:rPr>
              <a:t>'http'</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http.createServer</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req</a:t>
            </a:r>
            <a:r>
              <a:rPr lang="en-IN" b="0" i="0" dirty="0">
                <a:solidFill>
                  <a:srgbClr val="000000"/>
                </a:solidFill>
                <a:effectLst/>
                <a:latin typeface="Consolas" panose="020B0609020204030204" pitchFamily="49" charset="0"/>
              </a:rPr>
              <a:t>, res) {</a:t>
            </a:r>
            <a:br>
              <a:rPr lang="en-IN" dirty="0"/>
            </a:br>
            <a:r>
              <a:rPr lang="en-IN" b="1"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res.writeHead</a:t>
            </a:r>
            <a:r>
              <a:rPr lang="en-IN" b="1" i="0" dirty="0">
                <a:solidFill>
                  <a:srgbClr val="000000"/>
                </a:solidFill>
                <a:effectLst/>
                <a:latin typeface="Consolas" panose="020B0609020204030204" pitchFamily="49" charset="0"/>
              </a:rPr>
              <a:t>(</a:t>
            </a:r>
            <a:r>
              <a:rPr lang="en-IN" b="1" i="0" dirty="0">
                <a:solidFill>
                  <a:srgbClr val="FF0000"/>
                </a:solidFill>
                <a:effectLst/>
                <a:latin typeface="Consolas" panose="020B0609020204030204" pitchFamily="49" charset="0"/>
              </a:rPr>
              <a:t>200</a:t>
            </a:r>
            <a:r>
              <a:rPr lang="en-IN" b="1" i="0" dirty="0">
                <a:solidFill>
                  <a:srgbClr val="000000"/>
                </a:solidFill>
                <a:effectLst/>
                <a:latin typeface="Consolas" panose="020B0609020204030204" pitchFamily="49" charset="0"/>
              </a:rPr>
              <a:t>, {</a:t>
            </a:r>
            <a:r>
              <a:rPr lang="en-IN" b="1" i="0" dirty="0">
                <a:solidFill>
                  <a:srgbClr val="A52A2A"/>
                </a:solidFill>
                <a:effectLst/>
                <a:latin typeface="Consolas" panose="020B0609020204030204" pitchFamily="49" charset="0"/>
              </a:rPr>
              <a:t>'Content-Type'</a:t>
            </a:r>
            <a:r>
              <a:rPr lang="en-IN" b="1" i="0" dirty="0">
                <a:solidFill>
                  <a:srgbClr val="000000"/>
                </a:solidFill>
                <a:effectLst/>
                <a:latin typeface="Consolas" panose="020B0609020204030204" pitchFamily="49" charset="0"/>
              </a:rPr>
              <a:t>: </a:t>
            </a:r>
            <a:r>
              <a:rPr lang="en-IN" b="1" i="0" dirty="0">
                <a:solidFill>
                  <a:srgbClr val="A52A2A"/>
                </a:solidFill>
                <a:effectLst/>
                <a:latin typeface="Consolas" panose="020B0609020204030204" pitchFamily="49" charset="0"/>
              </a:rPr>
              <a:t>'text/html'</a:t>
            </a:r>
            <a:r>
              <a:rPr lang="en-IN" b="1" i="0" dirty="0">
                <a:solidFill>
                  <a:srgbClr val="000000"/>
                </a:solidFill>
                <a:effectLst/>
                <a:latin typeface="Consolas" panose="020B0609020204030204" pitchFamily="49" charset="0"/>
              </a:rPr>
              <a:t>});</a:t>
            </a:r>
            <a:br>
              <a:rPr lang="en-IN" b="1"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a:t>
            </a:r>
            <a:r>
              <a:rPr lang="en-IN" b="0" i="0" dirty="0">
                <a:solidFill>
                  <a:srgbClr val="000000"/>
                </a:solidFill>
                <a:effectLst/>
                <a:latin typeface="Consolas" panose="020B0609020204030204" pitchFamily="49" charset="0"/>
              </a:rPr>
              <a:t>(</a:t>
            </a:r>
            <a:r>
              <a:rPr lang="en-IN" b="0" i="0" dirty="0">
                <a:solidFill>
                  <a:srgbClr val="A52A2A"/>
                </a:solidFill>
                <a:effectLst/>
                <a:latin typeface="Consolas" panose="020B0609020204030204" pitchFamily="49" charset="0"/>
              </a:rPr>
              <a:t>'Hello World!'</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res.end</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}).listen(</a:t>
            </a:r>
            <a:r>
              <a:rPr lang="en-IN" b="0" i="0" dirty="0">
                <a:solidFill>
                  <a:srgbClr val="FF0000"/>
                </a:solidFill>
                <a:effectLst/>
                <a:latin typeface="Consolas" panose="020B0609020204030204" pitchFamily="49" charset="0"/>
              </a:rPr>
              <a:t>8080</a:t>
            </a:r>
            <a:r>
              <a:rPr lang="en-IN" b="0" i="0" dirty="0">
                <a:solidFill>
                  <a:srgbClr val="000000"/>
                </a:solidFill>
                <a:effectLst/>
                <a:latin typeface="Consolas" panose="020B0609020204030204" pitchFamily="49" charset="0"/>
              </a:rPr>
              <a:t>);</a:t>
            </a:r>
          </a:p>
          <a:p>
            <a:pPr marL="0" indent="0">
              <a:buNone/>
            </a:pPr>
            <a:endParaRPr lang="en-IN" dirty="0">
              <a:solidFill>
                <a:srgbClr val="000000"/>
              </a:solidFill>
              <a:latin typeface="Consolas" panose="020B0609020204030204" pitchFamily="49" charset="0"/>
            </a:endParaRPr>
          </a:p>
          <a:p>
            <a:pPr marL="0" indent="0">
              <a:buNone/>
            </a:pPr>
            <a:r>
              <a:rPr lang="en-US" dirty="0"/>
              <a:t>If the response from the HTTP server is supposed to be displayed as HTML, include content type as html, 200 is status code</a:t>
            </a:r>
            <a:endParaRPr lang="en-IN" dirty="0"/>
          </a:p>
        </p:txBody>
      </p:sp>
    </p:spTree>
    <p:extLst>
      <p:ext uri="{BB962C8B-B14F-4D97-AF65-F5344CB8AC3E}">
        <p14:creationId xmlns:p14="http://schemas.microsoft.com/office/powerpoint/2010/main" val="2312482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60016-8530-40E2-9E40-18B5AB0F5593}"/>
              </a:ext>
            </a:extLst>
          </p:cNvPr>
          <p:cNvSpPr>
            <a:spLocks noGrp="1"/>
          </p:cNvSpPr>
          <p:nvPr>
            <p:ph type="title"/>
          </p:nvPr>
        </p:nvSpPr>
        <p:spPr/>
        <p:txBody>
          <a:bodyPr>
            <a:normAutofit fontScale="90000"/>
          </a:bodyPr>
          <a:lstStyle/>
          <a:p>
            <a:r>
              <a:rPr lang="en-IN" b="0" i="0" dirty="0">
                <a:solidFill>
                  <a:srgbClr val="000000"/>
                </a:solidFill>
                <a:effectLst/>
                <a:latin typeface="Segoe UI" panose="020B0502040204020203" pitchFamily="34" charset="0"/>
              </a:rPr>
              <a:t>Read the Query String</a:t>
            </a:r>
            <a:br>
              <a:rPr lang="en-IN" b="0" i="0" dirty="0">
                <a:solidFill>
                  <a:srgbClr val="000000"/>
                </a:solidFill>
                <a:effectLst/>
                <a:latin typeface="Segoe UI" panose="020B0502040204020203" pitchFamily="34" charset="0"/>
              </a:rPr>
            </a:br>
            <a:br>
              <a:rPr lang="en-IN" dirty="0"/>
            </a:br>
            <a:endParaRPr lang="en-IN" dirty="0"/>
          </a:p>
        </p:txBody>
      </p:sp>
      <p:sp>
        <p:nvSpPr>
          <p:cNvPr id="3" name="Content Placeholder 2">
            <a:extLst>
              <a:ext uri="{FF2B5EF4-FFF2-40B4-BE49-F238E27FC236}">
                <a16:creationId xmlns:a16="http://schemas.microsoft.com/office/drawing/2014/main" id="{51756013-DF2C-4781-BA22-D6AF84B46517}"/>
              </a:ext>
            </a:extLst>
          </p:cNvPr>
          <p:cNvSpPr>
            <a:spLocks noGrp="1"/>
          </p:cNvSpPr>
          <p:nvPr>
            <p:ph idx="1"/>
          </p:nvPr>
        </p:nvSpPr>
        <p:spPr>
          <a:xfrm>
            <a:off x="838200" y="1000125"/>
            <a:ext cx="10515600" cy="5176838"/>
          </a:xfrm>
        </p:spPr>
        <p:txBody>
          <a:bodyPr>
            <a:normAutofit fontScale="92500" lnSpcReduction="10000"/>
          </a:bodyPr>
          <a:lstStyle/>
          <a:p>
            <a:r>
              <a:rPr lang="en-IN" b="0" i="0" dirty="0">
                <a:solidFill>
                  <a:srgbClr val="0000CD"/>
                </a:solidFill>
                <a:effectLst/>
                <a:latin typeface="Consolas" panose="020B0609020204030204" pitchFamily="49" charset="0"/>
              </a:rPr>
              <a:t>var</a:t>
            </a:r>
            <a:r>
              <a:rPr lang="en-IN" b="0" i="0" dirty="0">
                <a:solidFill>
                  <a:srgbClr val="000000"/>
                </a:solidFill>
                <a:effectLst/>
                <a:latin typeface="Consolas" panose="020B0609020204030204" pitchFamily="49" charset="0"/>
              </a:rPr>
              <a:t> http = require(</a:t>
            </a:r>
            <a:r>
              <a:rPr lang="en-IN" b="0" i="0" dirty="0">
                <a:solidFill>
                  <a:srgbClr val="A52A2A"/>
                </a:solidFill>
                <a:effectLst/>
                <a:latin typeface="Consolas" panose="020B0609020204030204" pitchFamily="49" charset="0"/>
              </a:rPr>
              <a:t>'http'</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http.createServer</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req</a:t>
            </a:r>
            <a:r>
              <a:rPr lang="en-IN" b="0" i="0" dirty="0">
                <a:solidFill>
                  <a:srgbClr val="000000"/>
                </a:solidFill>
                <a:effectLst/>
                <a:latin typeface="Consolas" panose="020B0609020204030204" pitchFamily="49" charset="0"/>
              </a:rPr>
              <a:t>, res) {</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res.writeHead</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200</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'Content-Type'</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'text/html'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a:t>
            </a:r>
            <a:r>
              <a:rPr lang="en-IN" b="0" i="0" dirty="0">
                <a:solidFill>
                  <a:srgbClr val="000000"/>
                </a:solidFill>
                <a:effectLst/>
                <a:latin typeface="Consolas" panose="020B0609020204030204" pitchFamily="49" charset="0"/>
              </a:rPr>
              <a:t>(</a:t>
            </a:r>
            <a:r>
              <a:rPr lang="en-IN" b="1" i="0" dirty="0">
                <a:solidFill>
                  <a:srgbClr val="000000"/>
                </a:solidFill>
                <a:effectLst/>
                <a:latin typeface="Consolas" panose="020B0609020204030204" pitchFamily="49" charset="0"/>
              </a:rPr>
              <a:t>req.url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res.end</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}).listen(</a:t>
            </a:r>
            <a:r>
              <a:rPr lang="en-IN" b="0" i="0" dirty="0">
                <a:solidFill>
                  <a:srgbClr val="FF0000"/>
                </a:solidFill>
                <a:effectLst/>
                <a:latin typeface="Consolas" panose="020B0609020204030204" pitchFamily="49" charset="0"/>
              </a:rPr>
              <a:t>8080</a:t>
            </a:r>
            <a:r>
              <a:rPr lang="en-IN" b="0" i="0" dirty="0">
                <a:solidFill>
                  <a:srgbClr val="000000"/>
                </a:solidFill>
                <a:effectLst/>
                <a:latin typeface="Consolas" panose="020B0609020204030204" pitchFamily="49" charset="0"/>
              </a:rPr>
              <a:t>);</a:t>
            </a:r>
          </a:p>
          <a:p>
            <a:endParaRPr lang="en-IN" dirty="0">
              <a:solidFill>
                <a:srgbClr val="000000"/>
              </a:solidFill>
              <a:latin typeface="Consolas" panose="020B0609020204030204" pitchFamily="49" charset="0"/>
            </a:endParaRPr>
          </a:p>
          <a:p>
            <a:r>
              <a:rPr lang="en-US" dirty="0"/>
              <a:t>The function passed into the </a:t>
            </a:r>
            <a:r>
              <a:rPr lang="en-US" dirty="0" err="1"/>
              <a:t>http.createServer</a:t>
            </a:r>
            <a:r>
              <a:rPr lang="en-US" dirty="0"/>
              <a:t>() has a req argument that represents the request from the client, as an object (</a:t>
            </a:r>
            <a:r>
              <a:rPr lang="en-US" dirty="0" err="1"/>
              <a:t>http.IncomingMessage</a:t>
            </a:r>
            <a:r>
              <a:rPr lang="en-US" dirty="0"/>
              <a:t> object).</a:t>
            </a:r>
          </a:p>
          <a:p>
            <a:endParaRPr lang="en-US" dirty="0"/>
          </a:p>
          <a:p>
            <a:r>
              <a:rPr lang="en-US" dirty="0"/>
              <a:t>This object has a property called "</a:t>
            </a:r>
            <a:r>
              <a:rPr lang="en-US" dirty="0" err="1"/>
              <a:t>url</a:t>
            </a:r>
            <a:r>
              <a:rPr lang="en-US" dirty="0"/>
              <a:t>" which holds the part of the </a:t>
            </a:r>
            <a:r>
              <a:rPr lang="en-US" dirty="0" err="1"/>
              <a:t>url</a:t>
            </a:r>
            <a:r>
              <a:rPr lang="en-US" dirty="0"/>
              <a:t> that comes after the domain name:</a:t>
            </a:r>
            <a:endParaRPr lang="en-IN" dirty="0"/>
          </a:p>
        </p:txBody>
      </p:sp>
    </p:spTree>
    <p:extLst>
      <p:ext uri="{BB962C8B-B14F-4D97-AF65-F5344CB8AC3E}">
        <p14:creationId xmlns:p14="http://schemas.microsoft.com/office/powerpoint/2010/main" val="1097821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1E9AF-B6D2-4C4D-AF61-1BA4D1C9435D}"/>
              </a:ext>
            </a:extLst>
          </p:cNvPr>
          <p:cNvSpPr>
            <a:spLocks noGrp="1"/>
          </p:cNvSpPr>
          <p:nvPr>
            <p:ph type="title"/>
          </p:nvPr>
        </p:nvSpPr>
        <p:spPr/>
        <p:txBody>
          <a:bodyPr/>
          <a:lstStyle/>
          <a:p>
            <a:r>
              <a:rPr lang="en-US" dirty="0"/>
              <a:t>Other core modules</a:t>
            </a:r>
            <a:endParaRPr lang="en-IN" dirty="0"/>
          </a:p>
        </p:txBody>
      </p:sp>
      <p:sp>
        <p:nvSpPr>
          <p:cNvPr id="3" name="Content Placeholder 2">
            <a:extLst>
              <a:ext uri="{FF2B5EF4-FFF2-40B4-BE49-F238E27FC236}">
                <a16:creationId xmlns:a16="http://schemas.microsoft.com/office/drawing/2014/main" id="{F85B0DA7-0C3A-4C26-893C-6A80543D8DA8}"/>
              </a:ext>
            </a:extLst>
          </p:cNvPr>
          <p:cNvSpPr>
            <a:spLocks noGrp="1"/>
          </p:cNvSpPr>
          <p:nvPr>
            <p:ph idx="1"/>
          </p:nvPr>
        </p:nvSpPr>
        <p:spPr/>
        <p:txBody>
          <a:bodyPr/>
          <a:lstStyle/>
          <a:p>
            <a:r>
              <a:rPr lang="en-US" dirty="0" err="1"/>
              <a:t>url</a:t>
            </a:r>
            <a:r>
              <a:rPr lang="en-US" dirty="0"/>
              <a:t> : Parse an address with the </a:t>
            </a:r>
            <a:r>
              <a:rPr lang="en-US" dirty="0" err="1"/>
              <a:t>url.parse</a:t>
            </a:r>
            <a:r>
              <a:rPr lang="en-US" dirty="0"/>
              <a:t>() method, and it will return a URL object with each part of the address as properties</a:t>
            </a:r>
          </a:p>
          <a:p>
            <a:r>
              <a:rPr lang="en-US" dirty="0"/>
              <a:t>Fs- read, write, open, append</a:t>
            </a:r>
          </a:p>
          <a:p>
            <a:r>
              <a:rPr lang="en-US" dirty="0"/>
              <a:t>Look at syntax of all these functions</a:t>
            </a:r>
          </a:p>
          <a:p>
            <a:r>
              <a:rPr lang="en-US" dirty="0"/>
              <a:t>Practice programs done in class/practical lab sessions</a:t>
            </a:r>
            <a:endParaRPr lang="en-IN" dirty="0"/>
          </a:p>
        </p:txBody>
      </p:sp>
    </p:spTree>
    <p:extLst>
      <p:ext uri="{BB962C8B-B14F-4D97-AF65-F5344CB8AC3E}">
        <p14:creationId xmlns:p14="http://schemas.microsoft.com/office/powerpoint/2010/main" val="945913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12E80-7F27-47A0-838F-271CD3984FD5}"/>
              </a:ext>
            </a:extLst>
          </p:cNvPr>
          <p:cNvSpPr>
            <a:spLocks noGrp="1"/>
          </p:cNvSpPr>
          <p:nvPr>
            <p:ph type="title"/>
          </p:nvPr>
        </p:nvSpPr>
        <p:spPr>
          <a:xfrm>
            <a:off x="0" y="79376"/>
            <a:ext cx="10515600" cy="315912"/>
          </a:xfrm>
        </p:spPr>
        <p:txBody>
          <a:bodyPr>
            <a:normAutofit fontScale="90000"/>
          </a:bodyPr>
          <a:lstStyle/>
          <a:p>
            <a:r>
              <a:rPr lang="en-US" dirty="0"/>
              <a:t> fs module</a:t>
            </a:r>
            <a:endParaRPr lang="en-IN" dirty="0"/>
          </a:p>
        </p:txBody>
      </p:sp>
      <p:sp>
        <p:nvSpPr>
          <p:cNvPr id="3" name="Content Placeholder 2">
            <a:extLst>
              <a:ext uri="{FF2B5EF4-FFF2-40B4-BE49-F238E27FC236}">
                <a16:creationId xmlns:a16="http://schemas.microsoft.com/office/drawing/2014/main" id="{47FD1489-FA16-4842-8D15-E82B5C71E28F}"/>
              </a:ext>
            </a:extLst>
          </p:cNvPr>
          <p:cNvSpPr>
            <a:spLocks noGrp="1"/>
          </p:cNvSpPr>
          <p:nvPr>
            <p:ph idx="1"/>
          </p:nvPr>
        </p:nvSpPr>
        <p:spPr>
          <a:xfrm>
            <a:off x="238125" y="657225"/>
            <a:ext cx="11115675" cy="5519738"/>
          </a:xfrm>
        </p:spPr>
        <p:txBody>
          <a:bodyPr>
            <a:normAutofit fontScale="92500" lnSpcReduction="10000"/>
          </a:bodyPr>
          <a:lstStyle/>
          <a:p>
            <a:r>
              <a:rPr lang="en-US" dirty="0"/>
              <a:t>Read Files</a:t>
            </a:r>
          </a:p>
          <a:p>
            <a:r>
              <a:rPr lang="en-US" dirty="0"/>
              <a:t>Write Files</a:t>
            </a:r>
          </a:p>
          <a:p>
            <a:r>
              <a:rPr lang="en-US" dirty="0"/>
              <a:t>Append Files</a:t>
            </a:r>
          </a:p>
          <a:p>
            <a:r>
              <a:rPr lang="en-US" dirty="0"/>
              <a:t>Close Files</a:t>
            </a:r>
          </a:p>
          <a:p>
            <a:r>
              <a:rPr lang="en-US" dirty="0"/>
              <a:t>Delete Files</a:t>
            </a:r>
          </a:p>
          <a:p>
            <a:endParaRPr lang="en-US" dirty="0"/>
          </a:p>
          <a:p>
            <a:r>
              <a:rPr lang="en-US" dirty="0"/>
              <a:t>Asynchronous and synchronous read</a:t>
            </a:r>
          </a:p>
          <a:p>
            <a:r>
              <a:rPr lang="en-US" dirty="0" err="1"/>
              <a:t>readFile</a:t>
            </a:r>
            <a:r>
              <a:rPr lang="en-US" dirty="0"/>
              <a:t>(file </a:t>
            </a:r>
            <a:r>
              <a:rPr lang="en-US" dirty="0" err="1"/>
              <a:t>path,callback</a:t>
            </a:r>
            <a:r>
              <a:rPr lang="en-US" dirty="0"/>
              <a:t>)		</a:t>
            </a:r>
            <a:r>
              <a:rPr lang="en-US" dirty="0" err="1"/>
              <a:t>readFileSyn</a:t>
            </a:r>
            <a:r>
              <a:rPr lang="en-US" dirty="0"/>
              <a:t>(“file path”)</a:t>
            </a:r>
          </a:p>
          <a:p>
            <a:endParaRPr lang="en-US" dirty="0"/>
          </a:p>
          <a:p>
            <a:r>
              <a:rPr lang="en-US" dirty="0"/>
              <a:t>Write file- will overwrite the file </a:t>
            </a:r>
          </a:p>
          <a:p>
            <a:r>
              <a:rPr lang="en-US" dirty="0" err="1"/>
              <a:t>fs.writeFile</a:t>
            </a:r>
            <a:r>
              <a:rPr lang="en-US" dirty="0"/>
              <a:t>(</a:t>
            </a:r>
            <a:r>
              <a:rPr lang="en-US" dirty="0" err="1"/>
              <a:t>path,data,options,callback</a:t>
            </a:r>
            <a:r>
              <a:rPr lang="en-US" dirty="0"/>
              <a:t>)</a:t>
            </a:r>
          </a:p>
          <a:p>
            <a:r>
              <a:rPr lang="en-US" dirty="0" err="1"/>
              <a:t>fs.writeFile</a:t>
            </a:r>
            <a:r>
              <a:rPr lang="en-US" dirty="0"/>
              <a:t>('sample_http.txt', 'This is node.js', 'utf8',function(err)</a:t>
            </a:r>
            <a:endParaRPr lang="en-IN" dirty="0"/>
          </a:p>
        </p:txBody>
      </p:sp>
    </p:spTree>
    <p:extLst>
      <p:ext uri="{BB962C8B-B14F-4D97-AF65-F5344CB8AC3E}">
        <p14:creationId xmlns:p14="http://schemas.microsoft.com/office/powerpoint/2010/main" val="2997982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6C50-6C55-4363-A3B5-F75778CB922C}"/>
              </a:ext>
            </a:extLst>
          </p:cNvPr>
          <p:cNvSpPr>
            <a:spLocks noGrp="1"/>
          </p:cNvSpPr>
          <p:nvPr>
            <p:ph type="title"/>
          </p:nvPr>
        </p:nvSpPr>
        <p:spPr>
          <a:xfrm>
            <a:off x="838200" y="365126"/>
            <a:ext cx="10515600" cy="806450"/>
          </a:xfrm>
        </p:spPr>
        <p:txBody>
          <a:bodyPr/>
          <a:lstStyle/>
          <a:p>
            <a:r>
              <a:rPr lang="en-US" dirty="0" err="1"/>
              <a:t>writeFile</a:t>
            </a:r>
            <a:r>
              <a:rPr lang="en-US" dirty="0"/>
              <a:t> Parameters</a:t>
            </a:r>
            <a:endParaRPr lang="en-IN" dirty="0"/>
          </a:p>
        </p:txBody>
      </p:sp>
      <p:sp>
        <p:nvSpPr>
          <p:cNvPr id="3" name="Content Placeholder 2">
            <a:extLst>
              <a:ext uri="{FF2B5EF4-FFF2-40B4-BE49-F238E27FC236}">
                <a16:creationId xmlns:a16="http://schemas.microsoft.com/office/drawing/2014/main" id="{36C783A3-0B8E-4A56-BC6B-6C5DDBCB9785}"/>
              </a:ext>
            </a:extLst>
          </p:cNvPr>
          <p:cNvSpPr>
            <a:spLocks noGrp="1"/>
          </p:cNvSpPr>
          <p:nvPr>
            <p:ph idx="1"/>
          </p:nvPr>
        </p:nvSpPr>
        <p:spPr>
          <a:xfrm>
            <a:off x="838200" y="1285875"/>
            <a:ext cx="10515600" cy="4891088"/>
          </a:xfrm>
        </p:spPr>
        <p:txBody>
          <a:bodyPr>
            <a:normAutofit fontScale="92500" lnSpcReduction="20000"/>
          </a:bodyPr>
          <a:lstStyle/>
          <a:p>
            <a:pPr algn="l" fontAlgn="base">
              <a:buFont typeface="Arial" panose="020B0604020202020204" pitchFamily="34" charset="0"/>
              <a:buChar char="•"/>
            </a:pPr>
            <a:r>
              <a:rPr lang="en-US" b="1" i="0" dirty="0">
                <a:solidFill>
                  <a:srgbClr val="40424E"/>
                </a:solidFill>
                <a:effectLst/>
                <a:latin typeface="urw-din"/>
              </a:rPr>
              <a:t>path:</a:t>
            </a:r>
            <a:r>
              <a:rPr lang="en-US" b="0" i="0" dirty="0">
                <a:solidFill>
                  <a:srgbClr val="40424E"/>
                </a:solidFill>
                <a:effectLst/>
                <a:latin typeface="urw-din"/>
              </a:rPr>
              <a:t> It is a string, Buffer, URL, or file description integer that denotes the path of the file where it has to be written. Using a file descriptor will make it behave similarly to </a:t>
            </a:r>
            <a:r>
              <a:rPr lang="en-US" b="0" i="0" dirty="0" err="1">
                <a:solidFill>
                  <a:srgbClr val="40424E"/>
                </a:solidFill>
                <a:effectLst/>
                <a:latin typeface="urw-din"/>
              </a:rPr>
              <a:t>fs.write</a:t>
            </a:r>
            <a:r>
              <a:rPr lang="en-US" b="0" i="0" dirty="0">
                <a:solidFill>
                  <a:srgbClr val="40424E"/>
                </a:solidFill>
                <a:effectLst/>
                <a:latin typeface="urw-din"/>
              </a:rPr>
              <a:t>() method.</a:t>
            </a:r>
          </a:p>
          <a:p>
            <a:pPr algn="l" fontAlgn="base">
              <a:buFont typeface="Arial" panose="020B0604020202020204" pitchFamily="34" charset="0"/>
              <a:buChar char="•"/>
            </a:pPr>
            <a:r>
              <a:rPr lang="en-US" b="1" i="0" dirty="0">
                <a:solidFill>
                  <a:srgbClr val="40424E"/>
                </a:solidFill>
                <a:effectLst/>
                <a:latin typeface="urw-din"/>
              </a:rPr>
              <a:t>data:</a:t>
            </a:r>
            <a:r>
              <a:rPr lang="en-US" b="0" i="0" dirty="0">
                <a:solidFill>
                  <a:srgbClr val="40424E"/>
                </a:solidFill>
                <a:effectLst/>
                <a:latin typeface="urw-din"/>
              </a:rPr>
              <a:t> It is a string, Buffer, </a:t>
            </a:r>
            <a:r>
              <a:rPr lang="en-US" b="0" i="0" dirty="0" err="1">
                <a:solidFill>
                  <a:srgbClr val="40424E"/>
                </a:solidFill>
                <a:effectLst/>
                <a:latin typeface="urw-din"/>
              </a:rPr>
              <a:t>TypedArray</a:t>
            </a:r>
            <a:r>
              <a:rPr lang="en-US" b="0" i="0" dirty="0">
                <a:solidFill>
                  <a:srgbClr val="40424E"/>
                </a:solidFill>
                <a:effectLst/>
                <a:latin typeface="urw-din"/>
              </a:rPr>
              <a:t>, or </a:t>
            </a:r>
            <a:r>
              <a:rPr lang="en-US" b="0" i="0" dirty="0" err="1">
                <a:solidFill>
                  <a:srgbClr val="40424E"/>
                </a:solidFill>
                <a:effectLst/>
                <a:latin typeface="urw-din"/>
              </a:rPr>
              <a:t>DataView</a:t>
            </a:r>
            <a:r>
              <a:rPr lang="en-US" b="0" i="0" dirty="0">
                <a:solidFill>
                  <a:srgbClr val="40424E"/>
                </a:solidFill>
                <a:effectLst/>
                <a:latin typeface="urw-din"/>
              </a:rPr>
              <a:t> that will be written to the file.</a:t>
            </a:r>
          </a:p>
          <a:p>
            <a:pPr algn="l" fontAlgn="base">
              <a:buFont typeface="Arial" panose="020B0604020202020204" pitchFamily="34" charset="0"/>
              <a:buChar char="•"/>
            </a:pPr>
            <a:r>
              <a:rPr lang="en-US" b="1" i="0" dirty="0">
                <a:solidFill>
                  <a:srgbClr val="40424E"/>
                </a:solidFill>
                <a:effectLst/>
                <a:latin typeface="urw-din"/>
              </a:rPr>
              <a:t>options:</a:t>
            </a:r>
            <a:r>
              <a:rPr lang="en-US" b="0" i="0" dirty="0">
                <a:solidFill>
                  <a:srgbClr val="40424E"/>
                </a:solidFill>
                <a:effectLst/>
                <a:latin typeface="urw-din"/>
              </a:rPr>
              <a:t> It is a string or object that can be used to specify optional parameters that will affect the output. It has three optional parameters:</a:t>
            </a:r>
          </a:p>
          <a:p>
            <a:pPr marL="742950" lvl="1" indent="-285750" algn="l" fontAlgn="base">
              <a:buFont typeface="Arial" panose="020B0604020202020204" pitchFamily="34" charset="0"/>
              <a:buChar char="•"/>
            </a:pPr>
            <a:r>
              <a:rPr lang="en-US" b="1" i="0" dirty="0">
                <a:solidFill>
                  <a:srgbClr val="40424E"/>
                </a:solidFill>
                <a:effectLst/>
                <a:latin typeface="urw-din"/>
              </a:rPr>
              <a:t>encoding:</a:t>
            </a:r>
            <a:r>
              <a:rPr lang="en-US" b="0" i="0" dirty="0">
                <a:solidFill>
                  <a:srgbClr val="40424E"/>
                </a:solidFill>
                <a:effectLst/>
                <a:latin typeface="urw-din"/>
              </a:rPr>
              <a:t> It is a string value that specifies the encoding of the file. The default value is ‘utf8’.</a:t>
            </a:r>
          </a:p>
          <a:p>
            <a:pPr marL="742950" lvl="1" indent="-285750" algn="l" fontAlgn="base">
              <a:buFont typeface="Arial" panose="020B0604020202020204" pitchFamily="34" charset="0"/>
              <a:buChar char="•"/>
            </a:pPr>
            <a:r>
              <a:rPr lang="en-US" b="1" i="0" dirty="0">
                <a:solidFill>
                  <a:srgbClr val="40424E"/>
                </a:solidFill>
                <a:effectLst/>
                <a:latin typeface="urw-din"/>
              </a:rPr>
              <a:t>mode:</a:t>
            </a:r>
            <a:r>
              <a:rPr lang="en-US" b="0" i="0" dirty="0">
                <a:solidFill>
                  <a:srgbClr val="40424E"/>
                </a:solidFill>
                <a:effectLst/>
                <a:latin typeface="urw-din"/>
              </a:rPr>
              <a:t> It is an integer value that specifies the file mode. The default value is 0o666.</a:t>
            </a:r>
          </a:p>
          <a:p>
            <a:pPr marL="742950" lvl="1" indent="-285750" algn="l" fontAlgn="base">
              <a:buFont typeface="Arial" panose="020B0604020202020204" pitchFamily="34" charset="0"/>
              <a:buChar char="•"/>
            </a:pPr>
            <a:r>
              <a:rPr lang="en-US" b="1" i="0" dirty="0">
                <a:solidFill>
                  <a:srgbClr val="40424E"/>
                </a:solidFill>
                <a:effectLst/>
                <a:latin typeface="urw-din"/>
              </a:rPr>
              <a:t>flag:</a:t>
            </a:r>
            <a:r>
              <a:rPr lang="en-US" b="0" i="0" dirty="0">
                <a:solidFill>
                  <a:srgbClr val="40424E"/>
                </a:solidFill>
                <a:effectLst/>
                <a:latin typeface="urw-din"/>
              </a:rPr>
              <a:t> It is a string value that specifies the flag used while writing to the file. The default value is ‘w’.</a:t>
            </a:r>
          </a:p>
          <a:p>
            <a:pPr algn="l" fontAlgn="base">
              <a:buFont typeface="Arial" panose="020B0604020202020204" pitchFamily="34" charset="0"/>
              <a:buChar char="•"/>
            </a:pPr>
            <a:r>
              <a:rPr lang="en-US" b="1" i="0" dirty="0">
                <a:solidFill>
                  <a:srgbClr val="40424E"/>
                </a:solidFill>
                <a:effectLst/>
                <a:latin typeface="urw-din"/>
              </a:rPr>
              <a:t>callback:</a:t>
            </a:r>
            <a:r>
              <a:rPr lang="en-US" b="0" i="0" dirty="0">
                <a:solidFill>
                  <a:srgbClr val="40424E"/>
                </a:solidFill>
                <a:effectLst/>
                <a:latin typeface="urw-din"/>
              </a:rPr>
              <a:t> It is the function that would be called when the method is executed.</a:t>
            </a:r>
          </a:p>
          <a:p>
            <a:pPr marL="742950" lvl="1" indent="-285750" algn="l" fontAlgn="base">
              <a:buFont typeface="Arial" panose="020B0604020202020204" pitchFamily="34" charset="0"/>
              <a:buChar char="•"/>
            </a:pPr>
            <a:r>
              <a:rPr lang="en-US" b="1" i="0" dirty="0">
                <a:solidFill>
                  <a:srgbClr val="40424E"/>
                </a:solidFill>
                <a:effectLst/>
                <a:latin typeface="urw-din"/>
              </a:rPr>
              <a:t>err:</a:t>
            </a:r>
            <a:r>
              <a:rPr lang="en-US" b="0" i="0" dirty="0">
                <a:solidFill>
                  <a:srgbClr val="40424E"/>
                </a:solidFill>
                <a:effectLst/>
                <a:latin typeface="urw-din"/>
              </a:rPr>
              <a:t> It is an error that would be thrown if the operation fails.</a:t>
            </a:r>
          </a:p>
          <a:p>
            <a:endParaRPr lang="en-IN" dirty="0"/>
          </a:p>
        </p:txBody>
      </p:sp>
    </p:spTree>
    <p:extLst>
      <p:ext uri="{BB962C8B-B14F-4D97-AF65-F5344CB8AC3E}">
        <p14:creationId xmlns:p14="http://schemas.microsoft.com/office/powerpoint/2010/main" val="3891437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11D83-EE5E-4531-B14B-F601B40A4DA8}"/>
              </a:ext>
            </a:extLst>
          </p:cNvPr>
          <p:cNvSpPr>
            <a:spLocks noGrp="1"/>
          </p:cNvSpPr>
          <p:nvPr>
            <p:ph type="title"/>
          </p:nvPr>
        </p:nvSpPr>
        <p:spPr/>
        <p:txBody>
          <a:bodyPr/>
          <a:lstStyle/>
          <a:p>
            <a:r>
              <a:rPr lang="en-US" dirty="0"/>
              <a:t>Appending to file</a:t>
            </a:r>
            <a:endParaRPr lang="en-IN" dirty="0"/>
          </a:p>
        </p:txBody>
      </p:sp>
      <p:sp>
        <p:nvSpPr>
          <p:cNvPr id="3" name="Content Placeholder 2">
            <a:extLst>
              <a:ext uri="{FF2B5EF4-FFF2-40B4-BE49-F238E27FC236}">
                <a16:creationId xmlns:a16="http://schemas.microsoft.com/office/drawing/2014/main" id="{D066F4ED-26EC-4EE2-B398-11F8AFA96FF4}"/>
              </a:ext>
            </a:extLst>
          </p:cNvPr>
          <p:cNvSpPr>
            <a:spLocks noGrp="1"/>
          </p:cNvSpPr>
          <p:nvPr>
            <p:ph idx="1"/>
          </p:nvPr>
        </p:nvSpPr>
        <p:spPr/>
        <p:txBody>
          <a:bodyPr/>
          <a:lstStyle/>
          <a:p>
            <a:r>
              <a:rPr lang="en-IN" dirty="0" err="1"/>
              <a:t>fs.appendFile</a:t>
            </a:r>
            <a:r>
              <a:rPr lang="en-IN" dirty="0"/>
              <a:t>('sample_http.txt', data, 'utf8', function(err)</a:t>
            </a:r>
          </a:p>
        </p:txBody>
      </p:sp>
    </p:spTree>
    <p:extLst>
      <p:ext uri="{BB962C8B-B14F-4D97-AF65-F5344CB8AC3E}">
        <p14:creationId xmlns:p14="http://schemas.microsoft.com/office/powerpoint/2010/main" val="795891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21ECD-88B7-4F7A-A7EC-F43605B0DFE0}"/>
              </a:ext>
            </a:extLst>
          </p:cNvPr>
          <p:cNvSpPr>
            <a:spLocks noGrp="1"/>
          </p:cNvSpPr>
          <p:nvPr>
            <p:ph type="title"/>
          </p:nvPr>
        </p:nvSpPr>
        <p:spPr/>
        <p:txBody>
          <a:bodyPr/>
          <a:lstStyle/>
          <a:p>
            <a:r>
              <a:rPr lang="en-US" dirty="0"/>
              <a:t>fs open </a:t>
            </a:r>
            <a:endParaRPr lang="en-IN" dirty="0"/>
          </a:p>
        </p:txBody>
      </p:sp>
      <p:sp>
        <p:nvSpPr>
          <p:cNvPr id="3" name="Content Placeholder 2">
            <a:extLst>
              <a:ext uri="{FF2B5EF4-FFF2-40B4-BE49-F238E27FC236}">
                <a16:creationId xmlns:a16="http://schemas.microsoft.com/office/drawing/2014/main" id="{3CA12CE3-8E91-4284-9937-A6585A615FFF}"/>
              </a:ext>
            </a:extLst>
          </p:cNvPr>
          <p:cNvSpPr>
            <a:spLocks noGrp="1"/>
          </p:cNvSpPr>
          <p:nvPr>
            <p:ph idx="1"/>
          </p:nvPr>
        </p:nvSpPr>
        <p:spPr/>
        <p:txBody>
          <a:bodyPr/>
          <a:lstStyle/>
          <a:p>
            <a:r>
              <a:rPr lang="en-US" b="0" i="0" dirty="0">
                <a:solidFill>
                  <a:srgbClr val="40424E"/>
                </a:solidFill>
                <a:effectLst/>
                <a:latin typeface="urw-din"/>
              </a:rPr>
              <a:t>The </a:t>
            </a:r>
            <a:r>
              <a:rPr lang="en-US" b="0" i="0" dirty="0" err="1">
                <a:solidFill>
                  <a:srgbClr val="40424E"/>
                </a:solidFill>
                <a:effectLst/>
                <a:latin typeface="urw-din"/>
              </a:rPr>
              <a:t>fs.open</a:t>
            </a:r>
            <a:r>
              <a:rPr lang="en-US" b="0" i="0" dirty="0">
                <a:solidFill>
                  <a:srgbClr val="40424E"/>
                </a:solidFill>
                <a:effectLst/>
                <a:latin typeface="urw-din"/>
              </a:rPr>
              <a:t>() method is used to create, read, or write a file. </a:t>
            </a:r>
          </a:p>
          <a:p>
            <a:r>
              <a:rPr lang="en-US" b="0" i="0" dirty="0">
                <a:solidFill>
                  <a:srgbClr val="40424E"/>
                </a:solidFill>
                <a:effectLst/>
                <a:latin typeface="urw-din"/>
              </a:rPr>
              <a:t>The </a:t>
            </a:r>
            <a:r>
              <a:rPr lang="en-US" b="0" i="0" dirty="0" err="1">
                <a:solidFill>
                  <a:srgbClr val="40424E"/>
                </a:solidFill>
                <a:effectLst/>
                <a:latin typeface="urw-din"/>
              </a:rPr>
              <a:t>fs.readFile</a:t>
            </a:r>
            <a:r>
              <a:rPr lang="en-US" b="0" i="0" dirty="0">
                <a:solidFill>
                  <a:srgbClr val="40424E"/>
                </a:solidFill>
                <a:effectLst/>
                <a:latin typeface="urw-din"/>
              </a:rPr>
              <a:t>() method is only for reading the file and </a:t>
            </a:r>
            <a:r>
              <a:rPr lang="en-US" b="0" i="0" dirty="0" err="1">
                <a:solidFill>
                  <a:srgbClr val="40424E"/>
                </a:solidFill>
                <a:effectLst/>
                <a:latin typeface="urw-din"/>
              </a:rPr>
              <a:t>fs.writeFile</a:t>
            </a:r>
            <a:r>
              <a:rPr lang="en-US" b="0" i="0" dirty="0">
                <a:solidFill>
                  <a:srgbClr val="40424E"/>
                </a:solidFill>
                <a:effectLst/>
                <a:latin typeface="urw-din"/>
              </a:rPr>
              <a:t>() method is only for writing to the file, </a:t>
            </a:r>
          </a:p>
          <a:p>
            <a:r>
              <a:rPr lang="en-US" b="0" i="0" dirty="0">
                <a:solidFill>
                  <a:srgbClr val="40424E"/>
                </a:solidFill>
                <a:effectLst/>
                <a:latin typeface="urw-din"/>
              </a:rPr>
              <a:t>whereas </a:t>
            </a:r>
            <a:r>
              <a:rPr lang="en-US" b="0" i="0" dirty="0" err="1">
                <a:solidFill>
                  <a:srgbClr val="40424E"/>
                </a:solidFill>
                <a:effectLst/>
                <a:latin typeface="urw-din"/>
              </a:rPr>
              <a:t>fs.open</a:t>
            </a:r>
            <a:r>
              <a:rPr lang="en-US" b="0" i="0" dirty="0">
                <a:solidFill>
                  <a:srgbClr val="40424E"/>
                </a:solidFill>
                <a:effectLst/>
                <a:latin typeface="urw-din"/>
              </a:rPr>
              <a:t>() method does several operations on a file</a:t>
            </a:r>
          </a:p>
          <a:p>
            <a:endParaRPr lang="en-US" dirty="0">
              <a:solidFill>
                <a:srgbClr val="40424E"/>
              </a:solidFill>
              <a:latin typeface="urw-din"/>
            </a:endParaRPr>
          </a:p>
          <a:p>
            <a:r>
              <a:rPr lang="en-IN" dirty="0" err="1"/>
              <a:t>fs.open</a:t>
            </a:r>
            <a:r>
              <a:rPr lang="en-IN" dirty="0"/>
              <a:t>(path, flags, mode, </a:t>
            </a:r>
            <a:r>
              <a:rPr lang="en-IN" dirty="0" err="1"/>
              <a:t>callback</a:t>
            </a:r>
            <a:r>
              <a:rPr lang="en-IN" dirty="0"/>
              <a:t>)</a:t>
            </a:r>
          </a:p>
        </p:txBody>
      </p:sp>
    </p:spTree>
    <p:extLst>
      <p:ext uri="{BB962C8B-B14F-4D97-AF65-F5344CB8AC3E}">
        <p14:creationId xmlns:p14="http://schemas.microsoft.com/office/powerpoint/2010/main" val="3279188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8098-8CFD-4DCC-B2F1-07C2DE9FEB4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FCF24E-59C8-4186-AC34-4AF72DD1C55E}"/>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40424E"/>
                </a:solidFill>
                <a:effectLst/>
                <a:latin typeface="urw-din"/>
              </a:rPr>
              <a:t>path:</a:t>
            </a:r>
            <a:r>
              <a:rPr lang="en-US" b="0" i="0" dirty="0">
                <a:solidFill>
                  <a:srgbClr val="40424E"/>
                </a:solidFill>
                <a:effectLst/>
                <a:latin typeface="urw-din"/>
              </a:rPr>
              <a:t> It holds the name of the file to read or the entire path if stored at other locations.</a:t>
            </a:r>
          </a:p>
          <a:p>
            <a:pPr algn="l" fontAlgn="base">
              <a:buFont typeface="Arial" panose="020B0604020202020204" pitchFamily="34" charset="0"/>
              <a:buChar char="•"/>
            </a:pPr>
            <a:r>
              <a:rPr lang="en-US" b="1" i="0" dirty="0">
                <a:solidFill>
                  <a:srgbClr val="40424E"/>
                </a:solidFill>
                <a:effectLst/>
                <a:latin typeface="urw-din"/>
              </a:rPr>
              <a:t>flags:</a:t>
            </a:r>
            <a:r>
              <a:rPr lang="en-US" b="0" i="0" dirty="0">
                <a:solidFill>
                  <a:srgbClr val="40424E"/>
                </a:solidFill>
                <a:effectLst/>
                <a:latin typeface="urw-din"/>
              </a:rPr>
              <a:t> Flags indicate the behavior of the file to be opened. All possible values are ( r, r+, </a:t>
            </a:r>
            <a:r>
              <a:rPr lang="en-US" b="0" i="0" dirty="0" err="1">
                <a:solidFill>
                  <a:srgbClr val="40424E"/>
                </a:solidFill>
                <a:effectLst/>
                <a:latin typeface="urw-din"/>
              </a:rPr>
              <a:t>rs</a:t>
            </a:r>
            <a:r>
              <a:rPr lang="en-US" b="0" i="0" dirty="0">
                <a:solidFill>
                  <a:srgbClr val="40424E"/>
                </a:solidFill>
                <a:effectLst/>
                <a:latin typeface="urw-din"/>
              </a:rPr>
              <a:t>, </a:t>
            </a:r>
            <a:r>
              <a:rPr lang="en-US" b="0" i="0" dirty="0" err="1">
                <a:solidFill>
                  <a:srgbClr val="40424E"/>
                </a:solidFill>
                <a:effectLst/>
                <a:latin typeface="urw-din"/>
              </a:rPr>
              <a:t>rs</a:t>
            </a:r>
            <a:r>
              <a:rPr lang="en-US" b="0" i="0" dirty="0">
                <a:solidFill>
                  <a:srgbClr val="40424E"/>
                </a:solidFill>
                <a:effectLst/>
                <a:latin typeface="urw-din"/>
              </a:rPr>
              <a:t>+, w, </a:t>
            </a:r>
            <a:r>
              <a:rPr lang="en-US" b="0" i="0" dirty="0" err="1">
                <a:solidFill>
                  <a:srgbClr val="40424E"/>
                </a:solidFill>
                <a:effectLst/>
                <a:latin typeface="urw-din"/>
              </a:rPr>
              <a:t>wx</a:t>
            </a:r>
            <a:r>
              <a:rPr lang="en-US" b="0" i="0" dirty="0">
                <a:solidFill>
                  <a:srgbClr val="40424E"/>
                </a:solidFill>
                <a:effectLst/>
                <a:latin typeface="urw-din"/>
              </a:rPr>
              <a:t>, w+, </a:t>
            </a:r>
            <a:r>
              <a:rPr lang="en-US" b="0" i="0" dirty="0" err="1">
                <a:solidFill>
                  <a:srgbClr val="40424E"/>
                </a:solidFill>
                <a:effectLst/>
                <a:latin typeface="urw-din"/>
              </a:rPr>
              <a:t>wx</a:t>
            </a:r>
            <a:r>
              <a:rPr lang="en-US" b="0" i="0" dirty="0">
                <a:solidFill>
                  <a:srgbClr val="40424E"/>
                </a:solidFill>
                <a:effectLst/>
                <a:latin typeface="urw-din"/>
              </a:rPr>
              <a:t>+, a, ax, a+, ax+).</a:t>
            </a:r>
          </a:p>
          <a:p>
            <a:pPr algn="l" fontAlgn="base">
              <a:buFont typeface="Arial" panose="020B0604020202020204" pitchFamily="34" charset="0"/>
              <a:buChar char="•"/>
            </a:pPr>
            <a:r>
              <a:rPr lang="en-US" b="1" i="0" dirty="0">
                <a:solidFill>
                  <a:srgbClr val="40424E"/>
                </a:solidFill>
                <a:effectLst/>
                <a:latin typeface="urw-din"/>
              </a:rPr>
              <a:t>mode:</a:t>
            </a:r>
            <a:r>
              <a:rPr lang="en-US" b="0" i="0" dirty="0">
                <a:solidFill>
                  <a:srgbClr val="40424E"/>
                </a:solidFill>
                <a:effectLst/>
                <a:latin typeface="urw-din"/>
              </a:rPr>
              <a:t> Sets the mode of file i.e. r-read, w-write, r+ -</a:t>
            </a:r>
            <a:r>
              <a:rPr lang="en-US" b="0" i="0" dirty="0" err="1">
                <a:solidFill>
                  <a:srgbClr val="40424E"/>
                </a:solidFill>
                <a:effectLst/>
                <a:latin typeface="urw-din"/>
              </a:rPr>
              <a:t>readwrite</a:t>
            </a:r>
            <a:r>
              <a:rPr lang="en-US" b="0" i="0" dirty="0">
                <a:solidFill>
                  <a:srgbClr val="40424E"/>
                </a:solidFill>
                <a:effectLst/>
                <a:latin typeface="urw-din"/>
              </a:rPr>
              <a:t>. It sets to default as </a:t>
            </a:r>
            <a:r>
              <a:rPr lang="en-US" b="0" i="0" dirty="0" err="1">
                <a:solidFill>
                  <a:srgbClr val="40424E"/>
                </a:solidFill>
                <a:effectLst/>
                <a:latin typeface="urw-din"/>
              </a:rPr>
              <a:t>readwrite</a:t>
            </a:r>
            <a:r>
              <a:rPr lang="en-US" b="0" i="0" dirty="0">
                <a:solidFill>
                  <a:srgbClr val="40424E"/>
                </a:solidFill>
                <a:effectLst/>
                <a:latin typeface="urw-din"/>
              </a:rPr>
              <a:t>.</a:t>
            </a:r>
          </a:p>
          <a:p>
            <a:pPr algn="l" fontAlgn="base">
              <a:buFont typeface="Arial" panose="020B0604020202020204" pitchFamily="34" charset="0"/>
              <a:buChar char="•"/>
            </a:pPr>
            <a:r>
              <a:rPr lang="en-US" b="0" i="0" dirty="0">
                <a:solidFill>
                  <a:srgbClr val="40424E"/>
                </a:solidFill>
                <a:effectLst/>
                <a:latin typeface="urw-din"/>
              </a:rPr>
              <a:t>callback:</a:t>
            </a:r>
          </a:p>
          <a:p>
            <a:pPr algn="l" fontAlgn="base">
              <a:buFont typeface="Arial" panose="020B0604020202020204" pitchFamily="34" charset="0"/>
              <a:buChar char="•"/>
            </a:pPr>
            <a:r>
              <a:rPr lang="en-US" b="0" i="0" dirty="0">
                <a:solidFill>
                  <a:srgbClr val="40424E"/>
                </a:solidFill>
                <a:effectLst/>
                <a:latin typeface="urw-din"/>
              </a:rPr>
              <a:t>It is a callback function that is called after reading a file. It takes two parameters: </a:t>
            </a:r>
            <a:r>
              <a:rPr lang="en-US" b="0" i="0" dirty="0" err="1">
                <a:solidFill>
                  <a:srgbClr val="40424E"/>
                </a:solidFill>
                <a:effectLst/>
                <a:latin typeface="urw-din"/>
              </a:rPr>
              <a:t>err,data</a:t>
            </a:r>
            <a:endParaRPr lang="en-US" b="0" i="0" dirty="0">
              <a:solidFill>
                <a:srgbClr val="40424E"/>
              </a:solidFill>
              <a:effectLst/>
              <a:latin typeface="urw-din"/>
            </a:endParaRPr>
          </a:p>
          <a:p>
            <a:endParaRPr lang="en-IN" dirty="0"/>
          </a:p>
        </p:txBody>
      </p:sp>
    </p:spTree>
    <p:extLst>
      <p:ext uri="{BB962C8B-B14F-4D97-AF65-F5344CB8AC3E}">
        <p14:creationId xmlns:p14="http://schemas.microsoft.com/office/powerpoint/2010/main" val="244316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8EF5-F232-4F2C-9806-E3B2D72C944D}"/>
              </a:ext>
            </a:extLst>
          </p:cNvPr>
          <p:cNvSpPr>
            <a:spLocks noGrp="1"/>
          </p:cNvSpPr>
          <p:nvPr>
            <p:ph type="title"/>
          </p:nvPr>
        </p:nvSpPr>
        <p:spPr>
          <a:xfrm>
            <a:off x="838200" y="365125"/>
            <a:ext cx="10515600" cy="396875"/>
          </a:xfrm>
        </p:spPr>
        <p:txBody>
          <a:bodyPr>
            <a:normAutofit fontScale="90000"/>
          </a:bodyPr>
          <a:lstStyle/>
          <a:p>
            <a:r>
              <a:rPr lang="en-US" dirty="0"/>
              <a:t>Fs read</a:t>
            </a:r>
            <a:endParaRPr lang="en-IN" dirty="0"/>
          </a:p>
        </p:txBody>
      </p:sp>
      <p:sp>
        <p:nvSpPr>
          <p:cNvPr id="3" name="Content Placeholder 2">
            <a:extLst>
              <a:ext uri="{FF2B5EF4-FFF2-40B4-BE49-F238E27FC236}">
                <a16:creationId xmlns:a16="http://schemas.microsoft.com/office/drawing/2014/main" id="{8D3EB3EF-ADFE-4092-88B6-1F3BB1ACC89F}"/>
              </a:ext>
            </a:extLst>
          </p:cNvPr>
          <p:cNvSpPr>
            <a:spLocks noGrp="1"/>
          </p:cNvSpPr>
          <p:nvPr>
            <p:ph idx="1"/>
          </p:nvPr>
        </p:nvSpPr>
        <p:spPr>
          <a:xfrm>
            <a:off x="838200" y="952500"/>
            <a:ext cx="10515600" cy="5224463"/>
          </a:xfrm>
        </p:spPr>
        <p:txBody>
          <a:bodyPr>
            <a:normAutofit fontScale="92500" lnSpcReduction="20000"/>
          </a:bodyPr>
          <a:lstStyle/>
          <a:p>
            <a:r>
              <a:rPr lang="en-US" dirty="0" err="1"/>
              <a:t>fs.read</a:t>
            </a:r>
            <a:r>
              <a:rPr lang="en-US" dirty="0"/>
              <a:t>(</a:t>
            </a:r>
            <a:r>
              <a:rPr lang="en-US" dirty="0" err="1"/>
              <a:t>fd</a:t>
            </a:r>
            <a:r>
              <a:rPr lang="en-US" dirty="0"/>
              <a:t>, buffer, offset, length, position, callback)</a:t>
            </a:r>
          </a:p>
          <a:p>
            <a:r>
              <a:rPr lang="en-US" dirty="0"/>
              <a:t>Parameters:</a:t>
            </a:r>
          </a:p>
          <a:p>
            <a:endParaRPr lang="en-US" dirty="0"/>
          </a:p>
          <a:p>
            <a:r>
              <a:rPr lang="en-US" dirty="0" err="1"/>
              <a:t>fd</a:t>
            </a:r>
            <a:r>
              <a:rPr lang="en-US" dirty="0"/>
              <a:t>: This is the file descriptor returned by </a:t>
            </a:r>
            <a:r>
              <a:rPr lang="en-US" dirty="0" err="1"/>
              <a:t>fs.open</a:t>
            </a:r>
            <a:r>
              <a:rPr lang="en-US" dirty="0"/>
              <a:t>() method.</a:t>
            </a:r>
          </a:p>
          <a:p>
            <a:r>
              <a:rPr lang="en-US" dirty="0"/>
              <a:t>buffer: This is the buffer that the data will be written to.</a:t>
            </a:r>
          </a:p>
          <a:p>
            <a:r>
              <a:rPr lang="en-US" dirty="0"/>
              <a:t>offset: This is the offset in the buffer to start writing at.</a:t>
            </a:r>
          </a:p>
          <a:p>
            <a:r>
              <a:rPr lang="en-US" dirty="0"/>
              <a:t>length: This is an integer specifying the number of bytes to read.</a:t>
            </a:r>
          </a:p>
          <a:p>
            <a:r>
              <a:rPr lang="en-US" dirty="0"/>
              <a:t>position: This is an integer specifying where to begin reading from in the file. If the position is null, data will be read from the current file position.</a:t>
            </a:r>
          </a:p>
          <a:p>
            <a:r>
              <a:rPr lang="en-US" dirty="0"/>
              <a:t>callback: It is a callback function that is called after reading of the file. It takes two parameters:</a:t>
            </a:r>
          </a:p>
          <a:p>
            <a:r>
              <a:rPr lang="en-US" dirty="0"/>
              <a:t>err: If any error occurs.</a:t>
            </a:r>
          </a:p>
          <a:p>
            <a:r>
              <a:rPr lang="en-US" dirty="0"/>
              <a:t>data: Contents of the file.</a:t>
            </a:r>
            <a:endParaRPr lang="en-IN" dirty="0"/>
          </a:p>
        </p:txBody>
      </p:sp>
    </p:spTree>
    <p:extLst>
      <p:ext uri="{BB962C8B-B14F-4D97-AF65-F5344CB8AC3E}">
        <p14:creationId xmlns:p14="http://schemas.microsoft.com/office/powerpoint/2010/main" val="3206661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E6B5-D361-4E5D-BB7D-D1FCEB6C826B}"/>
              </a:ext>
            </a:extLst>
          </p:cNvPr>
          <p:cNvSpPr>
            <a:spLocks noGrp="1"/>
          </p:cNvSpPr>
          <p:nvPr>
            <p:ph type="title"/>
          </p:nvPr>
        </p:nvSpPr>
        <p:spPr/>
        <p:txBody>
          <a:bodyPr/>
          <a:lstStyle/>
          <a:p>
            <a:r>
              <a:rPr lang="en-US" dirty="0" err="1"/>
              <a:t>Npm</a:t>
            </a:r>
            <a:r>
              <a:rPr lang="en-US" dirty="0"/>
              <a:t> module</a:t>
            </a:r>
            <a:endParaRPr lang="en-IN" dirty="0"/>
          </a:p>
        </p:txBody>
      </p:sp>
      <p:sp>
        <p:nvSpPr>
          <p:cNvPr id="3" name="Content Placeholder 2">
            <a:extLst>
              <a:ext uri="{FF2B5EF4-FFF2-40B4-BE49-F238E27FC236}">
                <a16:creationId xmlns:a16="http://schemas.microsoft.com/office/drawing/2014/main" id="{C8752014-725B-4FF7-908C-3B911CC58474}"/>
              </a:ext>
            </a:extLst>
          </p:cNvPr>
          <p:cNvSpPr>
            <a:spLocks noGrp="1"/>
          </p:cNvSpPr>
          <p:nvPr>
            <p:ph idx="1"/>
          </p:nvPr>
        </p:nvSpPr>
        <p:spPr/>
        <p:txBody>
          <a:bodyPr/>
          <a:lstStyle/>
          <a:p>
            <a:r>
              <a:rPr lang="en-US" dirty="0"/>
              <a:t>Node Package Manager (NPM) is a command line tool that installs, updates or uninstalls Node.js packages in your application. </a:t>
            </a:r>
          </a:p>
          <a:p>
            <a:r>
              <a:rPr lang="en-US" dirty="0"/>
              <a:t>It is also an online repository for open-source Node.js packages</a:t>
            </a:r>
          </a:p>
          <a:p>
            <a:r>
              <a:rPr lang="en-US" dirty="0"/>
              <a:t>Packages can be installed either globally or locally</a:t>
            </a:r>
          </a:p>
          <a:p>
            <a:r>
              <a:rPr lang="en-US" dirty="0" err="1"/>
              <a:t>Npm</a:t>
            </a:r>
            <a:r>
              <a:rPr lang="en-US" dirty="0"/>
              <a:t> is installed along with node.js</a:t>
            </a:r>
          </a:p>
          <a:p>
            <a:r>
              <a:rPr lang="en-US" dirty="0"/>
              <a:t>To check for </a:t>
            </a:r>
            <a:r>
              <a:rPr lang="en-US" dirty="0" err="1"/>
              <a:t>npm</a:t>
            </a:r>
            <a:r>
              <a:rPr lang="en-US" dirty="0"/>
              <a:t> installation</a:t>
            </a:r>
          </a:p>
          <a:p>
            <a:pPr marL="0" indent="0">
              <a:buNone/>
            </a:pPr>
            <a:r>
              <a:rPr lang="en-US" dirty="0"/>
              <a:t>Run </a:t>
            </a:r>
            <a:r>
              <a:rPr lang="en-US" dirty="0" err="1"/>
              <a:t>npm</a:t>
            </a:r>
            <a:r>
              <a:rPr lang="en-US" dirty="0"/>
              <a:t> -v</a:t>
            </a:r>
            <a:endParaRPr lang="en-IN" dirty="0"/>
          </a:p>
        </p:txBody>
      </p:sp>
    </p:spTree>
    <p:extLst>
      <p:ext uri="{BB962C8B-B14F-4D97-AF65-F5344CB8AC3E}">
        <p14:creationId xmlns:p14="http://schemas.microsoft.com/office/powerpoint/2010/main" val="3063597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DB21-27F5-4741-85C9-FEF7D234C4A5}"/>
              </a:ext>
            </a:extLst>
          </p:cNvPr>
          <p:cNvSpPr>
            <a:spLocks noGrp="1"/>
          </p:cNvSpPr>
          <p:nvPr>
            <p:ph type="title"/>
          </p:nvPr>
        </p:nvSpPr>
        <p:spPr>
          <a:xfrm>
            <a:off x="0" y="0"/>
            <a:ext cx="10515600" cy="682625"/>
          </a:xfrm>
        </p:spPr>
        <p:txBody>
          <a:bodyPr>
            <a:normAutofit fontScale="90000"/>
          </a:bodyPr>
          <a:lstStyle/>
          <a:p>
            <a:r>
              <a:rPr lang="en-US" dirty="0"/>
              <a:t>Install packages locally</a:t>
            </a:r>
            <a:endParaRPr lang="en-IN" dirty="0"/>
          </a:p>
        </p:txBody>
      </p:sp>
      <p:sp>
        <p:nvSpPr>
          <p:cNvPr id="3" name="Content Placeholder 2">
            <a:extLst>
              <a:ext uri="{FF2B5EF4-FFF2-40B4-BE49-F238E27FC236}">
                <a16:creationId xmlns:a16="http://schemas.microsoft.com/office/drawing/2014/main" id="{573B4912-392C-4084-9DEC-F43856EB6B9C}"/>
              </a:ext>
            </a:extLst>
          </p:cNvPr>
          <p:cNvSpPr>
            <a:spLocks noGrp="1"/>
          </p:cNvSpPr>
          <p:nvPr>
            <p:ph idx="1"/>
          </p:nvPr>
        </p:nvSpPr>
        <p:spPr>
          <a:xfrm>
            <a:off x="95250" y="682625"/>
            <a:ext cx="10515600" cy="4351338"/>
          </a:xfrm>
        </p:spPr>
        <p:txBody>
          <a:bodyPr/>
          <a:lstStyle/>
          <a:p>
            <a:r>
              <a:rPr lang="en-US" dirty="0"/>
              <a:t>For example, here I am installing package express</a:t>
            </a:r>
            <a:endParaRPr lang="en-IN" dirty="0"/>
          </a:p>
        </p:txBody>
      </p:sp>
      <p:pic>
        <p:nvPicPr>
          <p:cNvPr id="5" name="Picture 4">
            <a:extLst>
              <a:ext uri="{FF2B5EF4-FFF2-40B4-BE49-F238E27FC236}">
                <a16:creationId xmlns:a16="http://schemas.microsoft.com/office/drawing/2014/main" id="{A7414313-3714-4C9B-A162-E85B597FC677}"/>
              </a:ext>
            </a:extLst>
          </p:cNvPr>
          <p:cNvPicPr>
            <a:picLocks noChangeAspect="1"/>
          </p:cNvPicPr>
          <p:nvPr/>
        </p:nvPicPr>
        <p:blipFill rotWithShape="1">
          <a:blip r:embed="rId2"/>
          <a:srcRect t="15417" r="1485" b="25000"/>
          <a:stretch/>
        </p:blipFill>
        <p:spPr>
          <a:xfrm>
            <a:off x="95250" y="1365250"/>
            <a:ext cx="12011025" cy="4086226"/>
          </a:xfrm>
          <a:prstGeom prst="rect">
            <a:avLst/>
          </a:prstGeom>
        </p:spPr>
      </p:pic>
    </p:spTree>
    <p:extLst>
      <p:ext uri="{BB962C8B-B14F-4D97-AF65-F5344CB8AC3E}">
        <p14:creationId xmlns:p14="http://schemas.microsoft.com/office/powerpoint/2010/main" val="2323433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60FB-EEB8-4BE4-8167-F79A97E85D43}"/>
              </a:ext>
            </a:extLst>
          </p:cNvPr>
          <p:cNvSpPr>
            <a:spLocks noGrp="1"/>
          </p:cNvSpPr>
          <p:nvPr>
            <p:ph type="title"/>
          </p:nvPr>
        </p:nvSpPr>
        <p:spPr/>
        <p:txBody>
          <a:bodyPr/>
          <a:lstStyle/>
          <a:p>
            <a:r>
              <a:rPr lang="en-US" dirty="0"/>
              <a:t>Uninstall</a:t>
            </a:r>
            <a:endParaRPr lang="en-IN" dirty="0"/>
          </a:p>
        </p:txBody>
      </p:sp>
      <p:sp>
        <p:nvSpPr>
          <p:cNvPr id="3" name="Content Placeholder 2">
            <a:extLst>
              <a:ext uri="{FF2B5EF4-FFF2-40B4-BE49-F238E27FC236}">
                <a16:creationId xmlns:a16="http://schemas.microsoft.com/office/drawing/2014/main" id="{49B49BF5-67C5-4588-9C69-9C819C6666BC}"/>
              </a:ext>
            </a:extLst>
          </p:cNvPr>
          <p:cNvSpPr>
            <a:spLocks noGrp="1"/>
          </p:cNvSpPr>
          <p:nvPr>
            <p:ph idx="1"/>
          </p:nvPr>
        </p:nvSpPr>
        <p:spPr/>
        <p:txBody>
          <a:bodyPr/>
          <a:lstStyle/>
          <a:p>
            <a:pPr marL="0" indent="0">
              <a:buNone/>
            </a:pPr>
            <a:r>
              <a:rPr lang="en-US" dirty="0"/>
              <a:t>	</a:t>
            </a:r>
            <a:r>
              <a:rPr lang="en-US" dirty="0" err="1"/>
              <a:t>Npm</a:t>
            </a:r>
            <a:r>
              <a:rPr lang="en-US" dirty="0"/>
              <a:t> </a:t>
            </a:r>
            <a:r>
              <a:rPr lang="en-US" dirty="0" err="1"/>
              <a:t>unistall</a:t>
            </a:r>
            <a:r>
              <a:rPr lang="en-US" dirty="0"/>
              <a:t> express</a:t>
            </a:r>
            <a:endParaRPr lang="en-IN" dirty="0"/>
          </a:p>
        </p:txBody>
      </p:sp>
    </p:spTree>
    <p:extLst>
      <p:ext uri="{BB962C8B-B14F-4D97-AF65-F5344CB8AC3E}">
        <p14:creationId xmlns:p14="http://schemas.microsoft.com/office/powerpoint/2010/main" val="2679999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2B5E8-A512-48CE-8264-6BB6E2EF995A}"/>
              </a:ext>
            </a:extLst>
          </p:cNvPr>
          <p:cNvSpPr>
            <a:spLocks noGrp="1"/>
          </p:cNvSpPr>
          <p:nvPr>
            <p:ph type="title"/>
          </p:nvPr>
        </p:nvSpPr>
        <p:spPr>
          <a:xfrm>
            <a:off x="0" y="0"/>
            <a:ext cx="10515600" cy="779464"/>
          </a:xfrm>
        </p:spPr>
        <p:txBody>
          <a:bodyPr/>
          <a:lstStyle/>
          <a:p>
            <a:r>
              <a:rPr lang="en-US" dirty="0"/>
              <a:t>Install globally and list them </a:t>
            </a:r>
            <a:endParaRPr lang="en-IN" dirty="0"/>
          </a:p>
        </p:txBody>
      </p:sp>
      <p:sp>
        <p:nvSpPr>
          <p:cNvPr id="3" name="Content Placeholder 2">
            <a:extLst>
              <a:ext uri="{FF2B5EF4-FFF2-40B4-BE49-F238E27FC236}">
                <a16:creationId xmlns:a16="http://schemas.microsoft.com/office/drawing/2014/main" id="{C49EACC0-7F34-439C-9130-DFF4F833E220}"/>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89CD325-E3AA-43CA-B368-B42AA36361E2}"/>
              </a:ext>
            </a:extLst>
          </p:cNvPr>
          <p:cNvPicPr>
            <a:picLocks noChangeAspect="1"/>
          </p:cNvPicPr>
          <p:nvPr/>
        </p:nvPicPr>
        <p:blipFill rotWithShape="1">
          <a:blip r:embed="rId2"/>
          <a:srcRect b="6785"/>
          <a:stretch/>
        </p:blipFill>
        <p:spPr>
          <a:xfrm>
            <a:off x="0" y="681038"/>
            <a:ext cx="12192000" cy="5757862"/>
          </a:xfrm>
          <a:prstGeom prst="rect">
            <a:avLst/>
          </a:prstGeom>
        </p:spPr>
      </p:pic>
    </p:spTree>
    <p:extLst>
      <p:ext uri="{BB962C8B-B14F-4D97-AF65-F5344CB8AC3E}">
        <p14:creationId xmlns:p14="http://schemas.microsoft.com/office/powerpoint/2010/main" val="10726942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BC663-DEAE-41BD-B2A6-9F5134EE155D}"/>
              </a:ext>
            </a:extLst>
          </p:cNvPr>
          <p:cNvSpPr>
            <a:spLocks noGrp="1"/>
          </p:cNvSpPr>
          <p:nvPr>
            <p:ph type="title"/>
          </p:nvPr>
        </p:nvSpPr>
        <p:spPr>
          <a:xfrm>
            <a:off x="838200" y="365125"/>
            <a:ext cx="10515600" cy="511175"/>
          </a:xfrm>
        </p:spPr>
        <p:txBody>
          <a:bodyPr>
            <a:normAutofit fontScale="90000"/>
          </a:bodyPr>
          <a:lstStyle/>
          <a:p>
            <a:r>
              <a:rPr lang="en-IN" b="0" i="0" dirty="0">
                <a:solidFill>
                  <a:srgbClr val="181717"/>
                </a:solidFill>
                <a:effectLst/>
                <a:latin typeface="Segoe UI" panose="020B0502040204020203" pitchFamily="34" charset="0"/>
              </a:rPr>
              <a:t>Node.js </a:t>
            </a:r>
            <a:r>
              <a:rPr lang="en-IN" b="0" i="0" dirty="0" err="1">
                <a:solidFill>
                  <a:srgbClr val="181717"/>
                </a:solidFill>
                <a:effectLst/>
                <a:latin typeface="Segoe UI" panose="020B0502040204020203" pitchFamily="34" charset="0"/>
              </a:rPr>
              <a:t>EventEmitter</a:t>
            </a:r>
            <a:br>
              <a:rPr lang="en-IN" b="0" i="0" dirty="0">
                <a:solidFill>
                  <a:srgbClr val="181717"/>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75C7D947-5C60-4299-A9F4-B06DDD023D00}"/>
              </a:ext>
            </a:extLst>
          </p:cNvPr>
          <p:cNvSpPr>
            <a:spLocks noGrp="1"/>
          </p:cNvSpPr>
          <p:nvPr>
            <p:ph idx="1"/>
          </p:nvPr>
        </p:nvSpPr>
        <p:spPr>
          <a:xfrm>
            <a:off x="161925" y="1349375"/>
            <a:ext cx="10515600" cy="4351338"/>
          </a:xfrm>
        </p:spPr>
        <p:txBody>
          <a:bodyPr>
            <a:normAutofit lnSpcReduction="10000"/>
          </a:bodyPr>
          <a:lstStyle/>
          <a:p>
            <a:r>
              <a:rPr lang="en-US" dirty="0"/>
              <a:t>Node.js allows us to create and handle custom events easily by using events module. </a:t>
            </a:r>
          </a:p>
          <a:p>
            <a:r>
              <a:rPr lang="en-US" dirty="0"/>
              <a:t>Event module includes </a:t>
            </a:r>
            <a:r>
              <a:rPr lang="en-US" dirty="0" err="1"/>
              <a:t>EventEmitter</a:t>
            </a:r>
            <a:r>
              <a:rPr lang="en-US" dirty="0"/>
              <a:t> class which can be used to raise and handle custom events.</a:t>
            </a:r>
          </a:p>
          <a:p>
            <a:r>
              <a:rPr lang="en-US" dirty="0"/>
              <a:t>To include the built-in Events module use the require(‘events’) method.</a:t>
            </a:r>
          </a:p>
          <a:p>
            <a:r>
              <a:rPr lang="en-US" dirty="0"/>
              <a:t> In addition, all event properties and methods are an instance of an </a:t>
            </a:r>
            <a:r>
              <a:rPr lang="en-US" dirty="0" err="1"/>
              <a:t>EventEmitter</a:t>
            </a:r>
            <a:r>
              <a:rPr lang="en-US" dirty="0"/>
              <a:t> object. </a:t>
            </a:r>
          </a:p>
          <a:p>
            <a:r>
              <a:rPr lang="en-US" dirty="0"/>
              <a:t>To be able to access these properties and methods, create an </a:t>
            </a:r>
            <a:r>
              <a:rPr lang="en-US" dirty="0" err="1"/>
              <a:t>EventEmitter</a:t>
            </a:r>
            <a:r>
              <a:rPr lang="en-US" dirty="0"/>
              <a:t> object:</a:t>
            </a:r>
          </a:p>
          <a:p>
            <a:endParaRPr lang="en-IN" dirty="0"/>
          </a:p>
        </p:txBody>
      </p:sp>
    </p:spTree>
    <p:extLst>
      <p:ext uri="{BB962C8B-B14F-4D97-AF65-F5344CB8AC3E}">
        <p14:creationId xmlns:p14="http://schemas.microsoft.com/office/powerpoint/2010/main" val="3205867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DD706-36B2-4C9F-99BC-0644476E79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C642C5-54D5-4EA4-8775-5D349D3A89A1}"/>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BC10033D-EE06-4CFD-8F28-41FC092F7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6575" y="681037"/>
            <a:ext cx="4819650" cy="58658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F8C194F-F58A-40DF-A009-B84F6EA96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4" y="365125"/>
            <a:ext cx="6505575" cy="618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545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5E7E-D2CF-4D90-AAE9-233087F7F9C8}"/>
              </a:ext>
            </a:extLst>
          </p:cNvPr>
          <p:cNvSpPr>
            <a:spLocks noGrp="1"/>
          </p:cNvSpPr>
          <p:nvPr>
            <p:ph type="title"/>
          </p:nvPr>
        </p:nvSpPr>
        <p:spPr>
          <a:xfrm>
            <a:off x="838200" y="365126"/>
            <a:ext cx="10515600" cy="425450"/>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42BAAA01-66E7-488E-BFA9-78B0EC54A843}"/>
              </a:ext>
            </a:extLst>
          </p:cNvPr>
          <p:cNvSpPr>
            <a:spLocks noGrp="1"/>
          </p:cNvSpPr>
          <p:nvPr>
            <p:ph idx="1"/>
          </p:nvPr>
        </p:nvSpPr>
        <p:spPr>
          <a:xfrm>
            <a:off x="609600" y="1028700"/>
            <a:ext cx="10744200" cy="5638800"/>
          </a:xfrm>
        </p:spPr>
        <p:txBody>
          <a:bodyPr>
            <a:normAutofit fontScale="92500" lnSpcReduction="20000"/>
          </a:bodyPr>
          <a:lstStyle/>
          <a:p>
            <a:pPr marL="0" indent="0">
              <a:buNone/>
            </a:pPr>
            <a:r>
              <a:rPr lang="en-IN" dirty="0"/>
              <a:t>// get the reference of </a:t>
            </a:r>
            <a:r>
              <a:rPr lang="en-IN" dirty="0" err="1"/>
              <a:t>EventEmitter</a:t>
            </a:r>
            <a:r>
              <a:rPr lang="en-IN" dirty="0"/>
              <a:t> class of events module</a:t>
            </a:r>
          </a:p>
          <a:p>
            <a:pPr marL="0" indent="0">
              <a:buNone/>
            </a:pPr>
            <a:r>
              <a:rPr lang="en-IN" dirty="0"/>
              <a:t>var events = require('events');</a:t>
            </a:r>
          </a:p>
          <a:p>
            <a:pPr marL="0" indent="0">
              <a:buNone/>
            </a:pPr>
            <a:endParaRPr lang="en-IN" dirty="0"/>
          </a:p>
          <a:p>
            <a:pPr marL="0" indent="0">
              <a:buNone/>
            </a:pPr>
            <a:r>
              <a:rPr lang="en-IN" dirty="0"/>
              <a:t>//create an object of </a:t>
            </a:r>
            <a:r>
              <a:rPr lang="en-IN" dirty="0" err="1"/>
              <a:t>EventEmitter</a:t>
            </a:r>
            <a:r>
              <a:rPr lang="en-IN" dirty="0"/>
              <a:t> class by using above reference</a:t>
            </a:r>
          </a:p>
          <a:p>
            <a:pPr marL="0" indent="0">
              <a:buNone/>
            </a:pPr>
            <a:r>
              <a:rPr lang="en-IN" dirty="0"/>
              <a:t>var </a:t>
            </a:r>
            <a:r>
              <a:rPr lang="en-IN" dirty="0" err="1"/>
              <a:t>em</a:t>
            </a:r>
            <a:r>
              <a:rPr lang="en-IN" dirty="0"/>
              <a:t> = new </a:t>
            </a:r>
            <a:r>
              <a:rPr lang="en-IN" dirty="0" err="1"/>
              <a:t>events.EventEmitter</a:t>
            </a:r>
            <a:r>
              <a:rPr lang="en-IN" dirty="0"/>
              <a:t>();</a:t>
            </a:r>
          </a:p>
          <a:p>
            <a:pPr marL="0" indent="0">
              <a:buNone/>
            </a:pPr>
            <a:endParaRPr lang="en-IN" dirty="0"/>
          </a:p>
          <a:p>
            <a:pPr marL="0" indent="0">
              <a:buNone/>
            </a:pPr>
            <a:r>
              <a:rPr lang="en-IN" dirty="0"/>
              <a:t>//Subscribe for </a:t>
            </a:r>
            <a:r>
              <a:rPr lang="en-IN" dirty="0" err="1"/>
              <a:t>FirstEvent</a:t>
            </a:r>
            <a:endParaRPr lang="en-IN" dirty="0"/>
          </a:p>
          <a:p>
            <a:pPr marL="0" indent="0">
              <a:buNone/>
            </a:pPr>
            <a:r>
              <a:rPr lang="en-IN" dirty="0" err="1"/>
              <a:t>em.on</a:t>
            </a:r>
            <a:r>
              <a:rPr lang="en-IN" dirty="0"/>
              <a:t>('</a:t>
            </a:r>
            <a:r>
              <a:rPr lang="en-IN" dirty="0" err="1"/>
              <a:t>FirstEvent</a:t>
            </a:r>
            <a:r>
              <a:rPr lang="en-IN" dirty="0"/>
              <a:t>', function (data) {</a:t>
            </a:r>
          </a:p>
          <a:p>
            <a:pPr marL="0" indent="0">
              <a:buNone/>
            </a:pPr>
            <a:r>
              <a:rPr lang="en-IN" dirty="0"/>
              <a:t>console.log('First subscriber: ' + data);</a:t>
            </a:r>
          </a:p>
          <a:p>
            <a:pPr marL="0" indent="0">
              <a:buNone/>
            </a:pPr>
            <a:r>
              <a:rPr lang="en-IN" dirty="0"/>
              <a:t>});</a:t>
            </a:r>
          </a:p>
          <a:p>
            <a:pPr marL="0" indent="0">
              <a:buNone/>
            </a:pPr>
            <a:endParaRPr lang="en-IN" dirty="0"/>
          </a:p>
          <a:p>
            <a:pPr marL="0" indent="0">
              <a:buNone/>
            </a:pPr>
            <a:r>
              <a:rPr lang="en-IN" dirty="0"/>
              <a:t>// Raising </a:t>
            </a:r>
            <a:r>
              <a:rPr lang="en-IN" dirty="0" err="1"/>
              <a:t>FirstEvent</a:t>
            </a:r>
            <a:endParaRPr lang="en-IN" dirty="0"/>
          </a:p>
          <a:p>
            <a:pPr marL="0" indent="0">
              <a:buNone/>
            </a:pPr>
            <a:r>
              <a:rPr lang="en-IN" dirty="0" err="1"/>
              <a:t>em.emit</a:t>
            </a:r>
            <a:r>
              <a:rPr lang="en-IN" dirty="0"/>
              <a:t>('</a:t>
            </a:r>
            <a:r>
              <a:rPr lang="en-IN" dirty="0" err="1"/>
              <a:t>FirstEvent</a:t>
            </a:r>
            <a:r>
              <a:rPr lang="en-IN" dirty="0"/>
              <a:t>', 'This is my first Node.js event emitter example.');</a:t>
            </a:r>
          </a:p>
          <a:p>
            <a:pPr marL="0" indent="0">
              <a:buNone/>
            </a:pPr>
            <a:endParaRPr lang="en-IN" dirty="0"/>
          </a:p>
        </p:txBody>
      </p:sp>
    </p:spTree>
    <p:extLst>
      <p:ext uri="{BB962C8B-B14F-4D97-AF65-F5344CB8AC3E}">
        <p14:creationId xmlns:p14="http://schemas.microsoft.com/office/powerpoint/2010/main" val="1529823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F44EF-138E-4ECB-9C49-B8A9460C1D9C}"/>
              </a:ext>
            </a:extLst>
          </p:cNvPr>
          <p:cNvSpPr>
            <a:spLocks noGrp="1"/>
          </p:cNvSpPr>
          <p:nvPr>
            <p:ph type="title"/>
          </p:nvPr>
        </p:nvSpPr>
        <p:spPr>
          <a:xfrm>
            <a:off x="838200" y="365126"/>
            <a:ext cx="10515600" cy="234950"/>
          </a:xfrm>
        </p:spPr>
        <p:txBody>
          <a:bodyPr>
            <a:normAutofit fontScale="90000"/>
          </a:bodyPr>
          <a:lstStyle/>
          <a:p>
            <a:r>
              <a:rPr lang="en-US" dirty="0"/>
              <a:t>Guess the output</a:t>
            </a:r>
            <a:endParaRPr lang="en-IN" dirty="0"/>
          </a:p>
        </p:txBody>
      </p:sp>
      <p:sp>
        <p:nvSpPr>
          <p:cNvPr id="3" name="Content Placeholder 2">
            <a:extLst>
              <a:ext uri="{FF2B5EF4-FFF2-40B4-BE49-F238E27FC236}">
                <a16:creationId xmlns:a16="http://schemas.microsoft.com/office/drawing/2014/main" id="{8BF3897E-7C86-420F-BB8A-85FDC2101870}"/>
              </a:ext>
            </a:extLst>
          </p:cNvPr>
          <p:cNvSpPr>
            <a:spLocks noGrp="1"/>
          </p:cNvSpPr>
          <p:nvPr>
            <p:ph idx="1"/>
          </p:nvPr>
        </p:nvSpPr>
        <p:spPr>
          <a:xfrm>
            <a:off x="838200" y="876300"/>
            <a:ext cx="10515600" cy="5810250"/>
          </a:xfrm>
        </p:spPr>
        <p:txBody>
          <a:bodyPr>
            <a:normAutofit fontScale="77500" lnSpcReduction="20000"/>
          </a:bodyPr>
          <a:lstStyle/>
          <a:p>
            <a:r>
              <a:rPr lang="en-IN" dirty="0"/>
              <a:t>var events = require('events');</a:t>
            </a:r>
          </a:p>
          <a:p>
            <a:endParaRPr lang="en-IN" dirty="0"/>
          </a:p>
          <a:p>
            <a:r>
              <a:rPr lang="en-IN" dirty="0"/>
              <a:t>//create an object of </a:t>
            </a:r>
            <a:r>
              <a:rPr lang="en-IN" dirty="0" err="1"/>
              <a:t>EventEmitter</a:t>
            </a:r>
            <a:r>
              <a:rPr lang="en-IN" dirty="0"/>
              <a:t> class by using above reference</a:t>
            </a:r>
          </a:p>
          <a:p>
            <a:r>
              <a:rPr lang="en-IN" dirty="0"/>
              <a:t>var </a:t>
            </a:r>
            <a:r>
              <a:rPr lang="en-IN" dirty="0" err="1"/>
              <a:t>em</a:t>
            </a:r>
            <a:r>
              <a:rPr lang="en-IN" dirty="0"/>
              <a:t> = new </a:t>
            </a:r>
            <a:r>
              <a:rPr lang="en-IN" dirty="0" err="1"/>
              <a:t>events.EventEmitter</a:t>
            </a:r>
            <a:r>
              <a:rPr lang="en-IN" dirty="0"/>
              <a:t>();</a:t>
            </a:r>
          </a:p>
          <a:p>
            <a:endParaRPr lang="en-IN" dirty="0"/>
          </a:p>
          <a:p>
            <a:r>
              <a:rPr lang="en-IN" dirty="0"/>
              <a:t>//Subscribe for </a:t>
            </a:r>
            <a:r>
              <a:rPr lang="en-IN" dirty="0" err="1"/>
              <a:t>FirstEvent</a:t>
            </a:r>
            <a:endParaRPr lang="en-IN" dirty="0"/>
          </a:p>
          <a:p>
            <a:r>
              <a:rPr lang="en-IN" dirty="0" err="1"/>
              <a:t>em.on</a:t>
            </a:r>
            <a:r>
              <a:rPr lang="en-IN" dirty="0"/>
              <a:t>('</a:t>
            </a:r>
            <a:r>
              <a:rPr lang="en-IN" dirty="0" err="1"/>
              <a:t>FirstEvent</a:t>
            </a:r>
            <a:r>
              <a:rPr lang="en-IN" dirty="0"/>
              <a:t>', function (data) {</a:t>
            </a:r>
          </a:p>
          <a:p>
            <a:r>
              <a:rPr lang="en-IN" dirty="0"/>
              <a:t>console.log('First subscriber: ' + data);</a:t>
            </a:r>
          </a:p>
          <a:p>
            <a:r>
              <a:rPr lang="en-IN" dirty="0"/>
              <a:t>});</a:t>
            </a:r>
          </a:p>
          <a:p>
            <a:r>
              <a:rPr lang="en-IN" dirty="0" err="1"/>
              <a:t>em.on</a:t>
            </a:r>
            <a:r>
              <a:rPr lang="en-IN" dirty="0"/>
              <a:t>('</a:t>
            </a:r>
            <a:r>
              <a:rPr lang="en-IN" dirty="0" err="1"/>
              <a:t>FirstEvent</a:t>
            </a:r>
            <a:r>
              <a:rPr lang="en-IN" dirty="0"/>
              <a:t>', function (data) {</a:t>
            </a:r>
          </a:p>
          <a:p>
            <a:r>
              <a:rPr lang="en-IN" dirty="0"/>
              <a:t>console.log('Second subscriber: ' + data);</a:t>
            </a:r>
          </a:p>
          <a:p>
            <a:r>
              <a:rPr lang="en-IN" dirty="0"/>
              <a:t>});</a:t>
            </a:r>
          </a:p>
          <a:p>
            <a:endParaRPr lang="en-IN" dirty="0"/>
          </a:p>
          <a:p>
            <a:r>
              <a:rPr lang="en-IN" dirty="0"/>
              <a:t>// Raising Event</a:t>
            </a:r>
          </a:p>
          <a:p>
            <a:r>
              <a:rPr lang="en-IN" dirty="0" err="1"/>
              <a:t>em.emit</a:t>
            </a:r>
            <a:r>
              <a:rPr lang="en-IN" dirty="0"/>
              <a:t>('</a:t>
            </a:r>
            <a:r>
              <a:rPr lang="en-IN" dirty="0" err="1"/>
              <a:t>FirstEvent</a:t>
            </a:r>
            <a:r>
              <a:rPr lang="en-IN" dirty="0"/>
              <a:t>', 'This is my first Node.js event emitter example.');</a:t>
            </a:r>
          </a:p>
          <a:p>
            <a:r>
              <a:rPr lang="en-IN" dirty="0" err="1"/>
              <a:t>em.emit</a:t>
            </a:r>
            <a:r>
              <a:rPr lang="en-IN" dirty="0"/>
              <a:t>('</a:t>
            </a:r>
            <a:r>
              <a:rPr lang="en-IN" dirty="0" err="1"/>
              <a:t>FirstEvent</a:t>
            </a:r>
            <a:r>
              <a:rPr lang="en-IN" dirty="0"/>
              <a:t>', 'This is my Second Node.js event emitter example.');</a:t>
            </a:r>
          </a:p>
        </p:txBody>
      </p:sp>
    </p:spTree>
    <p:extLst>
      <p:ext uri="{BB962C8B-B14F-4D97-AF65-F5344CB8AC3E}">
        <p14:creationId xmlns:p14="http://schemas.microsoft.com/office/powerpoint/2010/main" val="1134541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EEDA-86C6-4B91-B356-8AFEE0815B2B}"/>
              </a:ext>
            </a:extLst>
          </p:cNvPr>
          <p:cNvSpPr>
            <a:spLocks noGrp="1"/>
          </p:cNvSpPr>
          <p:nvPr>
            <p:ph type="title"/>
          </p:nvPr>
        </p:nvSpPr>
        <p:spPr/>
        <p:txBody>
          <a:bodyPr>
            <a:normAutofit fontScale="90000"/>
          </a:bodyPr>
          <a:lstStyle/>
          <a:p>
            <a:r>
              <a:rPr lang="en-US" b="1" i="0" dirty="0">
                <a:effectLst/>
                <a:latin typeface="-apple-system"/>
              </a:rPr>
              <a:t>Registering for the event to be fired only one time using once.</a:t>
            </a:r>
            <a:br>
              <a:rPr lang="en-US" b="1" i="0" dirty="0">
                <a:effectLst/>
                <a:latin typeface="-apple-system"/>
              </a:rPr>
            </a:br>
            <a:endParaRPr lang="en-IN" dirty="0"/>
          </a:p>
        </p:txBody>
      </p:sp>
      <p:sp>
        <p:nvSpPr>
          <p:cNvPr id="3" name="Content Placeholder 2">
            <a:extLst>
              <a:ext uri="{FF2B5EF4-FFF2-40B4-BE49-F238E27FC236}">
                <a16:creationId xmlns:a16="http://schemas.microsoft.com/office/drawing/2014/main" id="{D303FCA2-F259-42D7-9B1F-601C560E34E2}"/>
              </a:ext>
            </a:extLst>
          </p:cNvPr>
          <p:cNvSpPr>
            <a:spLocks noGrp="1"/>
          </p:cNvSpPr>
          <p:nvPr>
            <p:ph idx="1"/>
          </p:nvPr>
        </p:nvSpPr>
        <p:spPr/>
        <p:txBody>
          <a:bodyPr/>
          <a:lstStyle/>
          <a:p>
            <a:pPr marL="0" indent="0">
              <a:buNone/>
            </a:pPr>
            <a:r>
              <a:rPr lang="en-IN" dirty="0" err="1"/>
              <a:t>em.once</a:t>
            </a:r>
            <a:r>
              <a:rPr lang="en-IN" dirty="0"/>
              <a:t>('</a:t>
            </a:r>
            <a:r>
              <a:rPr lang="en-IN" dirty="0" err="1"/>
              <a:t>NewEvent</a:t>
            </a:r>
            <a:r>
              <a:rPr lang="en-IN" dirty="0"/>
              <a:t>',function(data)</a:t>
            </a:r>
          </a:p>
          <a:p>
            <a:pPr marL="0" indent="0">
              <a:buNone/>
            </a:pPr>
            <a:r>
              <a:rPr lang="en-IN" dirty="0"/>
              <a:t>{</a:t>
            </a:r>
          </a:p>
          <a:p>
            <a:pPr marL="0" indent="0">
              <a:buNone/>
            </a:pPr>
            <a:r>
              <a:rPr lang="en-IN" dirty="0"/>
              <a:t>	console.log(data);</a:t>
            </a:r>
          </a:p>
          <a:p>
            <a:pPr marL="0" indent="0">
              <a:buNone/>
            </a:pPr>
            <a:r>
              <a:rPr lang="en-IN" dirty="0"/>
              <a:t>});</a:t>
            </a:r>
          </a:p>
          <a:p>
            <a:pPr marL="0" indent="0">
              <a:buNone/>
            </a:pPr>
            <a:r>
              <a:rPr lang="en-US" dirty="0" err="1"/>
              <a:t>em.emit</a:t>
            </a:r>
            <a:r>
              <a:rPr lang="en-US" dirty="0"/>
              <a:t>('</a:t>
            </a:r>
            <a:r>
              <a:rPr lang="en-US" dirty="0" err="1"/>
              <a:t>NewEvent</a:t>
            </a:r>
            <a:r>
              <a:rPr lang="en-US" dirty="0"/>
              <a:t>',"my new event");</a:t>
            </a:r>
            <a:endParaRPr lang="en-IN" dirty="0"/>
          </a:p>
          <a:p>
            <a:pPr marL="0" indent="0">
              <a:buNone/>
            </a:pPr>
            <a:r>
              <a:rPr lang="en-US" dirty="0" err="1"/>
              <a:t>em.emit</a:t>
            </a:r>
            <a:r>
              <a:rPr lang="en-US" dirty="0"/>
              <a:t>('</a:t>
            </a:r>
            <a:r>
              <a:rPr lang="en-US" dirty="0" err="1"/>
              <a:t>NewEvent</a:t>
            </a:r>
            <a:r>
              <a:rPr lang="en-US" dirty="0"/>
              <a:t>',"my new event");</a:t>
            </a:r>
            <a:r>
              <a:rPr lang="en-IN" dirty="0"/>
              <a:t> //This will have no effect</a:t>
            </a:r>
          </a:p>
        </p:txBody>
      </p:sp>
    </p:spTree>
    <p:extLst>
      <p:ext uri="{BB962C8B-B14F-4D97-AF65-F5344CB8AC3E}">
        <p14:creationId xmlns:p14="http://schemas.microsoft.com/office/powerpoint/2010/main" val="4675434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6D911-AC99-4773-AC61-973C0FA47D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ED75DA-54DB-4DCC-8300-B1FE0D891CE3}"/>
              </a:ext>
            </a:extLst>
          </p:cNvPr>
          <p:cNvSpPr>
            <a:spLocks noGrp="1"/>
          </p:cNvSpPr>
          <p:nvPr>
            <p:ph idx="1"/>
          </p:nvPr>
        </p:nvSpPr>
        <p:spPr/>
        <p:txBody>
          <a:bodyPr/>
          <a:lstStyle/>
          <a:p>
            <a:r>
              <a:rPr lang="en-IN" dirty="0" err="1"/>
              <a:t>em.on</a:t>
            </a:r>
            <a:r>
              <a:rPr lang="en-IN" dirty="0"/>
              <a:t>('</a:t>
            </a:r>
            <a:r>
              <a:rPr lang="en-IN" dirty="0" err="1"/>
              <a:t>status',function</a:t>
            </a:r>
            <a:r>
              <a:rPr lang="en-IN" dirty="0"/>
              <a:t> (code, </a:t>
            </a:r>
            <a:r>
              <a:rPr lang="en-IN" dirty="0" err="1"/>
              <a:t>msg</a:t>
            </a:r>
            <a:r>
              <a:rPr lang="en-IN" dirty="0"/>
              <a:t>)</a:t>
            </a:r>
          </a:p>
          <a:p>
            <a:r>
              <a:rPr lang="en-IN" dirty="0"/>
              <a:t>{ </a:t>
            </a:r>
          </a:p>
          <a:p>
            <a:r>
              <a:rPr lang="en-IN" dirty="0"/>
              <a:t>	console.log('Got'+</a:t>
            </a:r>
            <a:r>
              <a:rPr lang="en-IN" dirty="0" err="1"/>
              <a:t>code+msg</a:t>
            </a:r>
            <a:r>
              <a:rPr lang="en-IN" dirty="0"/>
              <a:t>);</a:t>
            </a:r>
          </a:p>
          <a:p>
            <a:r>
              <a:rPr lang="en-IN" dirty="0"/>
              <a:t>});</a:t>
            </a:r>
          </a:p>
          <a:p>
            <a:r>
              <a:rPr lang="en-IN" dirty="0" err="1"/>
              <a:t>em.emit</a:t>
            </a:r>
            <a:r>
              <a:rPr lang="en-IN" dirty="0"/>
              <a:t>('status',200,'OK');</a:t>
            </a:r>
          </a:p>
        </p:txBody>
      </p:sp>
    </p:spTree>
    <p:extLst>
      <p:ext uri="{BB962C8B-B14F-4D97-AF65-F5344CB8AC3E}">
        <p14:creationId xmlns:p14="http://schemas.microsoft.com/office/powerpoint/2010/main" val="552782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AAF6F-CA12-4585-BC28-75A24ABC65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D6AD40-09A2-4BAB-B4A8-7C8501488D0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47076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1798AF38EB2447A06F50DBDDD6C620" ma:contentTypeVersion="3" ma:contentTypeDescription="Create a new document." ma:contentTypeScope="" ma:versionID="a60a86a4836efeef43a957bf22a35738">
  <xsd:schema xmlns:xsd="http://www.w3.org/2001/XMLSchema" xmlns:xs="http://www.w3.org/2001/XMLSchema" xmlns:p="http://schemas.microsoft.com/office/2006/metadata/properties" xmlns:ns2="544bc39f-1996-488c-b2e2-82e8c15f62a1" targetNamespace="http://schemas.microsoft.com/office/2006/metadata/properties" ma:root="true" ma:fieldsID="8a5c42ef575d5434df065b7725a09ec2" ns2:_="">
    <xsd:import namespace="544bc39f-1996-488c-b2e2-82e8c15f62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4bc39f-1996-488c-b2e2-82e8c15f62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8290CEE-91CF-4DA5-A352-D94AE59D5588}"/>
</file>

<file path=customXml/itemProps2.xml><?xml version="1.0" encoding="utf-8"?>
<ds:datastoreItem xmlns:ds="http://schemas.openxmlformats.org/officeDocument/2006/customXml" ds:itemID="{A451E79E-CCD6-4820-A283-C235FB38AC1A}"/>
</file>

<file path=customXml/itemProps3.xml><?xml version="1.0" encoding="utf-8"?>
<ds:datastoreItem xmlns:ds="http://schemas.openxmlformats.org/officeDocument/2006/customXml" ds:itemID="{5CF6BE63-D41E-44BA-B910-CEAC0743EAD6}"/>
</file>

<file path=docProps/app.xml><?xml version="1.0" encoding="utf-8"?>
<Properties xmlns="http://schemas.openxmlformats.org/officeDocument/2006/extended-properties" xmlns:vt="http://schemas.openxmlformats.org/officeDocument/2006/docPropsVTypes">
  <Template>TM10001115[[fn=Parcel]]</Template>
  <TotalTime>972</TotalTime>
  <Words>2659</Words>
  <Application>Microsoft Office PowerPoint</Application>
  <PresentationFormat>Widescreen</PresentationFormat>
  <Paragraphs>216</Paragraphs>
  <Slides>42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-apple-system</vt:lpstr>
      <vt:lpstr>Arial</vt:lpstr>
      <vt:lpstr>Calibri</vt:lpstr>
      <vt:lpstr>Calibri Light</vt:lpstr>
      <vt:lpstr>Consolas</vt:lpstr>
      <vt:lpstr>Lato</vt:lpstr>
      <vt:lpstr>Roboto</vt:lpstr>
      <vt:lpstr>Segoe UI</vt:lpstr>
      <vt:lpstr>urw-din</vt:lpstr>
      <vt:lpstr>Verdana</vt:lpstr>
      <vt:lpstr>Office Theme</vt:lpstr>
      <vt:lpstr> Node. JS</vt:lpstr>
      <vt:lpstr>PowerPoint Presentation</vt:lpstr>
      <vt:lpstr>Advantages </vt:lpstr>
      <vt:lpstr>PowerPoint Presentation</vt:lpstr>
      <vt:lpstr>Traditional Web Server Model  </vt:lpstr>
      <vt:lpstr>PowerPoint Presentation</vt:lpstr>
      <vt:lpstr>Node.JS process model</vt:lpstr>
      <vt:lpstr>PowerPoint Presentation</vt:lpstr>
      <vt:lpstr>Differences between browser and Node JS</vt:lpstr>
      <vt:lpstr>Installation</vt:lpstr>
      <vt:lpstr>PowerPoint Presentation</vt:lpstr>
      <vt:lpstr>Node JS console </vt:lpstr>
      <vt:lpstr>PowerPoint Presentation</vt:lpstr>
      <vt:lpstr>Datatypes</vt:lpstr>
      <vt:lpstr>Functions </vt:lpstr>
      <vt:lpstr>PowerPoint Presentation</vt:lpstr>
      <vt:lpstr>Story about require, modules, export in Node</vt:lpstr>
      <vt:lpstr>PowerPoint Presentation</vt:lpstr>
      <vt:lpstr>PowerPoint Presentation</vt:lpstr>
      <vt:lpstr>Exporting Multiple Methods and Values  </vt:lpstr>
      <vt:lpstr>Core modules</vt:lpstr>
      <vt:lpstr>Example: http core module</vt:lpstr>
      <vt:lpstr>Adding HTTP header </vt:lpstr>
      <vt:lpstr>Read the Query String  </vt:lpstr>
      <vt:lpstr>Other core modules</vt:lpstr>
      <vt:lpstr> fs module</vt:lpstr>
      <vt:lpstr>writeFile Parameters</vt:lpstr>
      <vt:lpstr>Appending to file</vt:lpstr>
      <vt:lpstr>fs open </vt:lpstr>
      <vt:lpstr>PowerPoint Presentation</vt:lpstr>
      <vt:lpstr>Fs read</vt:lpstr>
      <vt:lpstr>Npm module</vt:lpstr>
      <vt:lpstr>Install packages locally</vt:lpstr>
      <vt:lpstr>Uninstall</vt:lpstr>
      <vt:lpstr>Install globally and list them </vt:lpstr>
      <vt:lpstr>Node.js EventEmitter </vt:lpstr>
      <vt:lpstr>PowerPoint Presentation</vt:lpstr>
      <vt:lpstr>Example</vt:lpstr>
      <vt:lpstr>Guess the output</vt:lpstr>
      <vt:lpstr>Registering for the event to be fired only one time using once.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Node. JS</dc:title>
  <dc:creator>viji zuber</dc:creator>
  <cp:lastModifiedBy>T Vijayetha</cp:lastModifiedBy>
  <cp:revision>30</cp:revision>
  <dcterms:created xsi:type="dcterms:W3CDTF">2021-02-23T05:30:56Z</dcterms:created>
  <dcterms:modified xsi:type="dcterms:W3CDTF">2025-03-28T03:46:57Z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0x010100E41798AF38EB2447A06F50DBDDD6C620</vt:lpwstr>
  </property>
</Properties>
</file>